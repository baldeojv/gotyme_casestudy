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charts/chart6.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7.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F6D0F053-6110-D570-BE93-6DD32E90B076}">
          <p14:sldIdLst>
            <p14:sldId id="256"/>
          </p14:sldIdLst>
        </p14:section>
        <p14:section name="Summary" id="{1090B6D6-5977-DBCB-B676-9039925FFCD0}">
          <p14:sldIdLst>
            <p14:sldId id="257"/>
          </p14:sldIdLst>
        </p14:section>
        <p14:section name="Brief" id="{1B99FAB6-D751-11AD-4F86-942977272832}">
          <p14:sldIdLst>
            <p14:sldId id="258"/>
          </p14:sldIdLst>
        </p14:section>
        <p14:section name="Questions" id="{0875E26A-9773-CF92-8E7D-26CA71195F00}">
          <p14:sldIdLst>
            <p14:sldId id="259"/>
            <p14:sldId id="260"/>
            <p14:sldId id="261"/>
            <p14:sldId id="262"/>
            <p14:sldId id="263"/>
            <p14:sldId id="264"/>
            <p14:sldId id="265"/>
            <p14:sldId id="266"/>
            <p14:sldId id="267"/>
          </p14:sldIdLst>
        </p14:section>
        <p14:section name="Bonus" id="{67E5E8EA-F1DE-5033-9C52-7F8C95076E6E}">
          <p14:sldIdLst>
            <p14:sldId id="268"/>
            <p14:sldId id="269"/>
            <p14:sldId id="270"/>
          </p14:sldIdLst>
        </p14:section>
        <p14:section name="Close" id="{1F76D945-F7DA-734A-489C-7F95EAB8A5BE}">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108" y="12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E33"/>
                </a:solidFill>
                <a:latin typeface="+mn-lt"/>
              </a:defRPr>
            </a:pPr>
            <a:r>
              <a:rPr lang="en-PH" sz="1300" b="0" i="0" u="none" strike="noStrike">
                <a:solidFill>
                  <a:srgbClr val="0B2E33"/>
                </a:solidFill>
                <a:latin typeface="+mn-lt"/>
              </a:rPr>
              <a:t>Test AUC</a:t>
            </a:r>
          </a:p>
        </c:rich>
      </c:tx>
      <c:overlay val="0"/>
    </c:title>
    <c:autoTitleDeleted val="0"/>
    <c:plotArea>
      <c:layout/>
      <c:barChart>
        <c:barDir val="col"/>
        <c:grouping val="clustered"/>
        <c:varyColors val="0"/>
        <c:ser>
          <c:idx val="0"/>
          <c:order val="0"/>
          <c:tx>
            <c:strRef>
              <c:f>Sheet1!$B$1</c:f>
              <c:strCache>
                <c:ptCount val="1"/>
                <c:pt idx="0">
                  <c:v>Test AUC</c:v>
                </c:pt>
              </c:strCache>
            </c:strRef>
          </c:tx>
          <c:spPr>
            <a:solidFill>
              <a:srgbClr val="00BFB3"/>
            </a:solidFill>
            <a:effectLst/>
          </c:spPr>
          <c:invertIfNegative val="0"/>
          <c:dPt>
            <c:idx val="0"/>
            <c:invertIfNegative val="0"/>
            <c:bubble3D val="0"/>
            <c:spPr>
              <a:solidFill>
                <a:srgbClr val="00BFB3"/>
              </a:solidFill>
              <a:effectLst/>
            </c:spPr>
            <c:extLst>
              <c:ext xmlns:c16="http://schemas.microsoft.com/office/drawing/2014/chart" uri="{C3380CC4-5D6E-409C-BE32-E72D297353CC}">
                <c16:uniqueId val="{00000001-665D-4D9F-A51E-D2EAD5E55216}"/>
              </c:ext>
            </c:extLst>
          </c:dPt>
          <c:dPt>
            <c:idx val="1"/>
            <c:invertIfNegative val="0"/>
            <c:bubble3D val="0"/>
            <c:spPr>
              <a:solidFill>
                <a:srgbClr val="E8604C"/>
              </a:solidFill>
              <a:effectLst/>
            </c:spPr>
            <c:extLst>
              <c:ext xmlns:c16="http://schemas.microsoft.com/office/drawing/2014/chart" uri="{C3380CC4-5D6E-409C-BE32-E72D297353CC}">
                <c16:uniqueId val="{00000003-665D-4D9F-A51E-D2EAD5E55216}"/>
              </c:ext>
            </c:extLst>
          </c:dPt>
          <c:dLbls>
            <c:numFmt formatCode="0.00" sourceLinked="0"/>
            <c:spPr>
              <a:noFill/>
              <a:ln>
                <a:noFill/>
              </a:ln>
              <a:effectLst/>
            </c:spPr>
            <c:txPr>
              <a:bodyPr/>
              <a:lstStyle/>
              <a:p>
                <a:pPr>
                  <a:defRPr sz="1100" b="0" i="0" u="none" strike="noStrike">
                    <a:solidFill>
                      <a:srgbClr val="0B2E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Without duration</c:v>
                </c:pt>
                <c:pt idx="1">
                  <c:v>With duration</c:v>
                </c:pt>
              </c:strCache>
            </c:strRef>
          </c:cat>
          <c:val>
            <c:numRef>
              <c:f>Sheet1!$B$2:$B$3</c:f>
              <c:numCache>
                <c:formatCode>General</c:formatCode>
                <c:ptCount val="2"/>
                <c:pt idx="0">
                  <c:v>0.80200000000000005</c:v>
                </c:pt>
                <c:pt idx="1">
                  <c:v>0.93500000000000005</c:v>
                </c:pt>
              </c:numCache>
            </c:numRef>
          </c:val>
          <c:extLst>
            <c:ext xmlns:c16="http://schemas.microsoft.com/office/drawing/2014/chart" uri="{C3380CC4-5D6E-409C-BE32-E72D297353CC}">
              <c16:uniqueId val="{00000004-665D-4D9F-A51E-D2EAD5E5521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6E"/>
                </a:solidFill>
                <a:latin typeface="+mn-lt"/>
              </a:defRPr>
            </a:pPr>
            <a:endParaRPr lang="en-US"/>
          </a:p>
        </c:txPr>
        <c:crossAx val="2094734552"/>
        <c:crosses val="autoZero"/>
        <c:auto val="1"/>
        <c:lblAlgn val="ctr"/>
        <c:lblOffset val="100"/>
        <c:noMultiLvlLbl val="1"/>
      </c:catAx>
      <c:valAx>
        <c:axId val="2094734552"/>
        <c:scaling>
          <c:orientation val="minMax"/>
          <c:max val="1"/>
          <c:min val="0.5"/>
        </c:scaling>
        <c:delete val="0"/>
        <c:axPos val="l"/>
        <c:majorGridlines>
          <c:spPr>
            <a:ln w="6350" cap="flat">
              <a:solidFill>
                <a:srgbClr val="D5E3E2"/>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6E"/>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E33"/>
                </a:solidFill>
                <a:latin typeface="+mn-lt"/>
              </a:defRPr>
            </a:pPr>
            <a:r>
              <a:rPr lang="en-US" sz="1300" b="0" i="0" u="none" strike="noStrike">
                <a:solidFill>
                  <a:srgbClr val="0B2E33"/>
                </a:solidFill>
                <a:latin typeface="+mn-lt"/>
              </a:rPr>
              <a:t>Response rate by call length</a:t>
            </a:r>
          </a:p>
        </c:rich>
      </c:tx>
      <c:overlay val="0"/>
    </c:title>
    <c:autoTitleDeleted val="0"/>
    <c:plotArea>
      <c:layout/>
      <c:barChart>
        <c:barDir val="col"/>
        <c:grouping val="clustered"/>
        <c:varyColors val="0"/>
        <c:ser>
          <c:idx val="0"/>
          <c:order val="0"/>
          <c:tx>
            <c:strRef>
              <c:f>Sheet1!$B$1</c:f>
              <c:strCache>
                <c:ptCount val="1"/>
                <c:pt idx="0">
                  <c:v>Response rate</c:v>
                </c:pt>
              </c:strCache>
            </c:strRef>
          </c:tx>
          <c:spPr>
            <a:solidFill>
              <a:srgbClr val="00BFB3"/>
            </a:solidFill>
            <a:effectLst/>
          </c:spPr>
          <c:invertIfNegative val="0"/>
          <c:dLbls>
            <c:numFmt formatCode="0%" sourceLinked="0"/>
            <c:spPr>
              <a:noFill/>
              <a:ln>
                <a:noFill/>
              </a:ln>
              <a:effectLst/>
            </c:spPr>
            <c:txPr>
              <a:bodyPr/>
              <a:lstStyle/>
              <a:p>
                <a:pPr>
                  <a:defRPr sz="1100" b="0" i="0" u="none" strike="noStrike">
                    <a:solidFill>
                      <a:srgbClr val="0B2E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1-100s</c:v>
                </c:pt>
                <c:pt idx="1">
                  <c:v>101-300s</c:v>
                </c:pt>
                <c:pt idx="2">
                  <c:v>301-600s</c:v>
                </c:pt>
                <c:pt idx="3">
                  <c:v>&gt;600s</c:v>
                </c:pt>
              </c:strCache>
            </c:strRef>
          </c:cat>
          <c:val>
            <c:numRef>
              <c:f>Sheet1!$B$2:$B$5</c:f>
              <c:numCache>
                <c:formatCode>General</c:formatCode>
                <c:ptCount val="4"/>
                <c:pt idx="0">
                  <c:v>8.0000000000000002E-3</c:v>
                </c:pt>
                <c:pt idx="1">
                  <c:v>7.0999999999999994E-2</c:v>
                </c:pt>
                <c:pt idx="2">
                  <c:v>0.184</c:v>
                </c:pt>
                <c:pt idx="3">
                  <c:v>0.49099999999999999</c:v>
                </c:pt>
              </c:numCache>
            </c:numRef>
          </c:val>
          <c:extLst>
            <c:ext xmlns:c16="http://schemas.microsoft.com/office/drawing/2014/chart" uri="{C3380CC4-5D6E-409C-BE32-E72D297353CC}">
              <c16:uniqueId val="{00000000-3846-43C2-9C2F-A330C62A0E1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6E"/>
                </a:solidFill>
                <a:latin typeface="+mn-lt"/>
              </a:defRPr>
            </a:pPr>
            <a:endParaRPr lang="en-US"/>
          </a:p>
        </c:txPr>
        <c:crossAx val="2094734552"/>
        <c:crosses val="autoZero"/>
        <c:auto val="1"/>
        <c:lblAlgn val="ctr"/>
        <c:lblOffset val="100"/>
        <c:noMultiLvlLbl val="1"/>
      </c:catAx>
      <c:valAx>
        <c:axId val="2094734552"/>
        <c:scaling>
          <c:orientation val="minMax"/>
          <c:max val="0.6"/>
          <c:min val="0"/>
        </c:scaling>
        <c:delete val="0"/>
        <c:axPos val="l"/>
        <c:majorGridlines>
          <c:spPr>
            <a:ln w="6350" cap="flat">
              <a:solidFill>
                <a:srgbClr val="D5E3E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6E"/>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E33"/>
                </a:solidFill>
                <a:latin typeface="+mn-lt"/>
              </a:defRPr>
            </a:pPr>
            <a:r>
              <a:rPr lang="en-PH" sz="1300" b="0" i="0" u="none" strike="noStrike">
                <a:solidFill>
                  <a:srgbClr val="0B2E33"/>
                </a:solidFill>
                <a:latin typeface="+mn-lt"/>
              </a:rPr>
              <a:t>Cross-validated AUC (tuned)</a:t>
            </a:r>
          </a:p>
        </c:rich>
      </c:tx>
      <c:overlay val="0"/>
    </c:title>
    <c:autoTitleDeleted val="0"/>
    <c:plotArea>
      <c:layout/>
      <c:barChart>
        <c:barDir val="col"/>
        <c:grouping val="clustered"/>
        <c:varyColors val="0"/>
        <c:ser>
          <c:idx val="0"/>
          <c:order val="0"/>
          <c:tx>
            <c:strRef>
              <c:f>Sheet1!$B$1</c:f>
              <c:strCache>
                <c:ptCount val="1"/>
                <c:pt idx="0">
                  <c:v>CV AUC</c:v>
                </c:pt>
              </c:strCache>
            </c:strRef>
          </c:tx>
          <c:spPr>
            <a:solidFill>
              <a:srgbClr val="00BFB3"/>
            </a:solidFill>
            <a:effectLst/>
          </c:spPr>
          <c:invertIfNegative val="0"/>
          <c:dLbls>
            <c:numFmt formatCode="0.000" sourceLinked="0"/>
            <c:spPr>
              <a:noFill/>
              <a:ln>
                <a:noFill/>
              </a:ln>
              <a:effectLst/>
            </c:spPr>
            <c:txPr>
              <a:bodyPr/>
              <a:lstStyle/>
              <a:p>
                <a:pPr>
                  <a:defRPr sz="1100" b="0" i="0" u="none" strike="noStrike">
                    <a:solidFill>
                      <a:srgbClr val="0B2E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Logistic regression</c:v>
                </c:pt>
                <c:pt idx="1">
                  <c:v>Gradient boosting</c:v>
                </c:pt>
                <c:pt idx="2">
                  <c:v>Random forest</c:v>
                </c:pt>
              </c:strCache>
            </c:strRef>
          </c:cat>
          <c:val>
            <c:numRef>
              <c:f>Sheet1!$B$2:$B$4</c:f>
              <c:numCache>
                <c:formatCode>General</c:formatCode>
                <c:ptCount val="3"/>
                <c:pt idx="0">
                  <c:v>0.78469999999999995</c:v>
                </c:pt>
                <c:pt idx="1">
                  <c:v>0.78520000000000001</c:v>
                </c:pt>
                <c:pt idx="2">
                  <c:v>0.78590000000000004</c:v>
                </c:pt>
              </c:numCache>
            </c:numRef>
          </c:val>
          <c:extLst>
            <c:ext xmlns:c16="http://schemas.microsoft.com/office/drawing/2014/chart" uri="{C3380CC4-5D6E-409C-BE32-E72D297353CC}">
              <c16:uniqueId val="{00000000-F1E4-497E-BDD5-87CACC82A25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6E"/>
                </a:solidFill>
                <a:latin typeface="+mn-lt"/>
              </a:defRPr>
            </a:pPr>
            <a:endParaRPr lang="en-US"/>
          </a:p>
        </c:txPr>
        <c:crossAx val="2094734552"/>
        <c:crosses val="autoZero"/>
        <c:auto val="1"/>
        <c:lblAlgn val="ctr"/>
        <c:lblOffset val="100"/>
        <c:noMultiLvlLbl val="1"/>
      </c:catAx>
      <c:valAx>
        <c:axId val="2094734552"/>
        <c:scaling>
          <c:orientation val="minMax"/>
          <c:max val="0.8"/>
          <c:min val="0.77"/>
        </c:scaling>
        <c:delete val="0"/>
        <c:axPos val="l"/>
        <c:majorGridlines>
          <c:spPr>
            <a:ln w="6350" cap="flat">
              <a:solidFill>
                <a:srgbClr val="D5E3E2"/>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6E"/>
                </a:solidFill>
                <a:latin typeface="+mn-lt"/>
              </a:defRPr>
            </a:pPr>
            <a:endParaRPr lang="en-US"/>
          </a:p>
        </c:txPr>
        <c:crossAx val="2094734554"/>
        <c:crosses val="autoZero"/>
        <c:crossBetween val="between"/>
        <c:majorUnit val="0.01"/>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E33"/>
                </a:solidFill>
                <a:latin typeface="+mn-lt"/>
              </a:defRPr>
            </a:pPr>
            <a:r>
              <a:rPr lang="en-US" sz="1300" b="0" i="0" u="none" strike="noStrike">
                <a:solidFill>
                  <a:srgbClr val="0B2E33"/>
                </a:solidFill>
                <a:latin typeface="+mn-lt"/>
              </a:rPr>
              <a:t>AUC drop when the variable is shuffled</a:t>
            </a:r>
          </a:p>
        </c:rich>
      </c:tx>
      <c:overlay val="0"/>
    </c:title>
    <c:autoTitleDeleted val="0"/>
    <c:plotArea>
      <c:layout/>
      <c:barChart>
        <c:barDir val="bar"/>
        <c:grouping val="clustered"/>
        <c:varyColors val="0"/>
        <c:ser>
          <c:idx val="0"/>
          <c:order val="0"/>
          <c:tx>
            <c:strRef>
              <c:f>Sheet1!$B$1</c:f>
              <c:strCache>
                <c:ptCount val="1"/>
                <c:pt idx="0">
                  <c:v>AUC drop</c:v>
                </c:pt>
              </c:strCache>
            </c:strRef>
          </c:tx>
          <c:spPr>
            <a:solidFill>
              <a:srgbClr val="00BFB3"/>
            </a:solidFill>
            <a:effectLst/>
          </c:spPr>
          <c:invertIfNegative val="0"/>
          <c:dLbls>
            <c:numFmt formatCode="0.000" sourceLinked="0"/>
            <c:spPr>
              <a:noFill/>
              <a:ln>
                <a:noFill/>
              </a:ln>
              <a:effectLst/>
            </c:spPr>
            <c:txPr>
              <a:bodyPr/>
              <a:lstStyle/>
              <a:p>
                <a:pPr>
                  <a:defRPr sz="1100" b="0" i="0" u="none" strike="noStrike">
                    <a:solidFill>
                      <a:srgbClr val="0B2E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Previous campaign outcome</c:v>
                </c:pt>
                <c:pt idx="1">
                  <c:v>Previously contacted</c:v>
                </c:pt>
                <c:pt idx="2">
                  <c:v>Month last contacted</c:v>
                </c:pt>
                <c:pt idx="3">
                  <c:v>Contact medium</c:v>
                </c:pt>
                <c:pt idx="4">
                  <c:v>Consumer price index</c:v>
                </c:pt>
                <c:pt idx="5">
                  <c:v>Employment variation rate</c:v>
                </c:pt>
              </c:strCache>
            </c:strRef>
          </c:cat>
          <c:val>
            <c:numRef>
              <c:f>Sheet1!$B$2:$B$7</c:f>
              <c:numCache>
                <c:formatCode>General</c:formatCode>
                <c:ptCount val="6"/>
                <c:pt idx="0">
                  <c:v>4.4999999999999997E-3</c:v>
                </c:pt>
                <c:pt idx="1">
                  <c:v>9.4999999999999998E-3</c:v>
                </c:pt>
                <c:pt idx="2">
                  <c:v>1.7899999999999999E-2</c:v>
                </c:pt>
                <c:pt idx="3">
                  <c:v>2.2100000000000002E-2</c:v>
                </c:pt>
                <c:pt idx="4">
                  <c:v>2.2800000000000001E-2</c:v>
                </c:pt>
                <c:pt idx="5">
                  <c:v>0.23810000000000001</c:v>
                </c:pt>
              </c:numCache>
            </c:numRef>
          </c:val>
          <c:extLst>
            <c:ext xmlns:c16="http://schemas.microsoft.com/office/drawing/2014/chart" uri="{C3380CC4-5D6E-409C-BE32-E72D297353CC}">
              <c16:uniqueId val="{00000000-C086-4D12-B1EF-A77748D9EEC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B6E"/>
                </a:solidFill>
                <a:latin typeface="+mn-lt"/>
              </a:defRPr>
            </a:pPr>
            <a:endParaRPr lang="en-US"/>
          </a:p>
        </c:txPr>
        <c:crossAx val="2094734552"/>
        <c:crosses val="autoZero"/>
        <c:auto val="1"/>
        <c:lblAlgn val="ctr"/>
        <c:lblOffset val="100"/>
        <c:noMultiLvlLbl val="1"/>
      </c:catAx>
      <c:valAx>
        <c:axId val="2094734552"/>
        <c:scaling>
          <c:orientation val="minMax"/>
          <c:max val="0.3"/>
          <c:min val="0"/>
        </c:scaling>
        <c:delete val="0"/>
        <c:axPos val="b"/>
        <c:majorGridlines>
          <c:spPr>
            <a:ln w="6350" cap="flat">
              <a:solidFill>
                <a:srgbClr val="D5E3E2"/>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6E"/>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E33"/>
                </a:solidFill>
                <a:latin typeface="+mn-lt"/>
              </a:defRPr>
            </a:pPr>
            <a:r>
              <a:rPr lang="en-PH" sz="1300" b="0" i="0" u="none" strike="noStrike">
                <a:solidFill>
                  <a:srgbClr val="0B2E33"/>
                </a:solidFill>
                <a:latin typeface="+mn-lt"/>
              </a:rPr>
              <a:t>Cross-validated AUC</a:t>
            </a:r>
          </a:p>
        </c:rich>
      </c:tx>
      <c:overlay val="0"/>
    </c:title>
    <c:autoTitleDeleted val="0"/>
    <c:plotArea>
      <c:layout/>
      <c:barChart>
        <c:barDir val="col"/>
        <c:grouping val="clustered"/>
        <c:varyColors val="0"/>
        <c:ser>
          <c:idx val="0"/>
          <c:order val="0"/>
          <c:tx>
            <c:strRef>
              <c:f>Sheet1!$B$1</c:f>
              <c:strCache>
                <c:ptCount val="1"/>
                <c:pt idx="0">
                  <c:v>Random CV</c:v>
                </c:pt>
              </c:strCache>
            </c:strRef>
          </c:tx>
          <c:spPr>
            <a:solidFill>
              <a:srgbClr val="D5E3E2"/>
            </a:solidFill>
            <a:effectLst/>
          </c:spPr>
          <c:invertIfNegative val="0"/>
          <c:dLbls>
            <c:numFmt formatCode="0.000" sourceLinked="0"/>
            <c:spPr>
              <a:noFill/>
              <a:ln>
                <a:noFill/>
              </a:ln>
              <a:effectLst/>
            </c:spPr>
            <c:txPr>
              <a:bodyPr/>
              <a:lstStyle/>
              <a:p>
                <a:pPr>
                  <a:defRPr sz="1100" b="0" i="0" u="none" strike="noStrike">
                    <a:solidFill>
                      <a:srgbClr val="0B2E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Full model</c:v>
                </c:pt>
                <c:pt idx="1">
                  <c:v>No macro</c:v>
                </c:pt>
                <c:pt idx="2">
                  <c:v>No macro, no month</c:v>
                </c:pt>
              </c:strCache>
            </c:strRef>
          </c:cat>
          <c:val>
            <c:numRef>
              <c:f>Sheet1!$B$2:$B$4</c:f>
              <c:numCache>
                <c:formatCode>General</c:formatCode>
                <c:ptCount val="3"/>
                <c:pt idx="0">
                  <c:v>0.78400000000000003</c:v>
                </c:pt>
                <c:pt idx="1">
                  <c:v>0.755</c:v>
                </c:pt>
                <c:pt idx="2">
                  <c:v>0.72699999999999998</c:v>
                </c:pt>
              </c:numCache>
            </c:numRef>
          </c:val>
          <c:extLst>
            <c:ext xmlns:c16="http://schemas.microsoft.com/office/drawing/2014/chart" uri="{C3380CC4-5D6E-409C-BE32-E72D297353CC}">
              <c16:uniqueId val="{00000000-D3D1-49B7-9E04-B099C52E1A06}"/>
            </c:ext>
          </c:extLst>
        </c:ser>
        <c:ser>
          <c:idx val="1"/>
          <c:order val="1"/>
          <c:tx>
            <c:strRef>
              <c:f>Sheet1!$C$1</c:f>
              <c:strCache>
                <c:ptCount val="1"/>
                <c:pt idx="0">
                  <c:v>Unseen periods CV</c:v>
                </c:pt>
              </c:strCache>
            </c:strRef>
          </c:tx>
          <c:spPr>
            <a:solidFill>
              <a:srgbClr val="00BFB3"/>
            </a:solidFill>
            <a:effectLst/>
          </c:spPr>
          <c:invertIfNegative val="0"/>
          <c:dLbls>
            <c:numFmt formatCode="0.000" sourceLinked="0"/>
            <c:spPr>
              <a:noFill/>
              <a:ln>
                <a:noFill/>
              </a:ln>
              <a:effectLst/>
            </c:spPr>
            <c:txPr>
              <a:bodyPr/>
              <a:lstStyle/>
              <a:p>
                <a:pPr>
                  <a:defRPr sz="1100" b="0" i="0" u="none" strike="noStrike">
                    <a:solidFill>
                      <a:srgbClr val="0B2E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Full model</c:v>
                </c:pt>
                <c:pt idx="1">
                  <c:v>No macro</c:v>
                </c:pt>
                <c:pt idx="2">
                  <c:v>No macro, no month</c:v>
                </c:pt>
              </c:strCache>
            </c:strRef>
          </c:cat>
          <c:val>
            <c:numRef>
              <c:f>Sheet1!$C$2:$C$4</c:f>
              <c:numCache>
                <c:formatCode>General</c:formatCode>
                <c:ptCount val="3"/>
                <c:pt idx="0">
                  <c:v>0.78900000000000003</c:v>
                </c:pt>
                <c:pt idx="1">
                  <c:v>0.754</c:v>
                </c:pt>
                <c:pt idx="2">
                  <c:v>0.72599999999999998</c:v>
                </c:pt>
              </c:numCache>
            </c:numRef>
          </c:val>
          <c:extLst>
            <c:ext xmlns:c16="http://schemas.microsoft.com/office/drawing/2014/chart" uri="{C3380CC4-5D6E-409C-BE32-E72D297353CC}">
              <c16:uniqueId val="{00000001-D3D1-49B7-9E04-B099C52E1A0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6E"/>
                </a:solidFill>
                <a:latin typeface="+mn-lt"/>
              </a:defRPr>
            </a:pPr>
            <a:endParaRPr lang="en-US"/>
          </a:p>
        </c:txPr>
        <c:crossAx val="2094734552"/>
        <c:crosses val="autoZero"/>
        <c:auto val="1"/>
        <c:lblAlgn val="ctr"/>
        <c:lblOffset val="100"/>
        <c:noMultiLvlLbl val="1"/>
      </c:catAx>
      <c:valAx>
        <c:axId val="2094734552"/>
        <c:scaling>
          <c:orientation val="minMax"/>
          <c:max val="0.85"/>
          <c:min val="0.6"/>
        </c:scaling>
        <c:delete val="0"/>
        <c:axPos val="l"/>
        <c:majorGridlines>
          <c:spPr>
            <a:ln w="6350" cap="flat">
              <a:solidFill>
                <a:srgbClr val="D5E3E2"/>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6E"/>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E33"/>
                </a:solidFill>
                <a:latin typeface="+mn-lt"/>
              </a:defRPr>
            </a:pPr>
            <a:r>
              <a:rPr lang="en-US" sz="1300" b="0" i="0" u="none" strike="noStrike">
                <a:solidFill>
                  <a:srgbClr val="0B2E33"/>
                </a:solidFill>
                <a:latin typeface="+mn-lt"/>
              </a:rPr>
              <a:t>Profit per customer by cut-off rule</a:t>
            </a:r>
          </a:p>
        </c:rich>
      </c:tx>
      <c:overlay val="0"/>
    </c:title>
    <c:autoTitleDeleted val="0"/>
    <c:plotArea>
      <c:layout/>
      <c:barChart>
        <c:barDir val="col"/>
        <c:grouping val="clustered"/>
        <c:varyColors val="0"/>
        <c:ser>
          <c:idx val="0"/>
          <c:order val="0"/>
          <c:tx>
            <c:strRef>
              <c:f>Sheet1!$B$1</c:f>
              <c:strCache>
                <c:ptCount val="1"/>
                <c:pt idx="0">
                  <c:v>Profit</c:v>
                </c:pt>
              </c:strCache>
            </c:strRef>
          </c:tx>
          <c:spPr>
            <a:solidFill>
              <a:srgbClr val="00BFB3"/>
            </a:solidFill>
            <a:effectLst/>
          </c:spPr>
          <c:invertIfNegative val="0"/>
          <c:dLbls>
            <c:numFmt formatCode="0.0" sourceLinked="0"/>
            <c:spPr>
              <a:noFill/>
              <a:ln>
                <a:noFill/>
              </a:ln>
              <a:effectLst/>
            </c:spPr>
            <c:txPr>
              <a:bodyPr/>
              <a:lstStyle/>
              <a:p>
                <a:pPr>
                  <a:defRPr sz="1100" b="0" i="0" u="none" strike="noStrike">
                    <a:solidFill>
                      <a:srgbClr val="0B2E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Default 0.5</c:v>
                </c:pt>
                <c:pt idx="1">
                  <c:v>Youden's J</c:v>
                </c:pt>
                <c:pt idx="2">
                  <c:v>Break-even</c:v>
                </c:pt>
                <c:pt idx="3">
                  <c:v>Max F1</c:v>
                </c:pt>
                <c:pt idx="4">
                  <c:v>Profit max</c:v>
                </c:pt>
              </c:strCache>
            </c:strRef>
          </c:cat>
          <c:val>
            <c:numRef>
              <c:f>Sheet1!$B$2:$B$6</c:f>
              <c:numCache>
                <c:formatCode>General</c:formatCode>
                <c:ptCount val="5"/>
                <c:pt idx="0">
                  <c:v>20.5</c:v>
                </c:pt>
                <c:pt idx="1">
                  <c:v>27.2</c:v>
                </c:pt>
                <c:pt idx="2">
                  <c:v>36.1</c:v>
                </c:pt>
                <c:pt idx="3">
                  <c:v>36.200000000000003</c:v>
                </c:pt>
                <c:pt idx="4">
                  <c:v>36.4</c:v>
                </c:pt>
              </c:numCache>
            </c:numRef>
          </c:val>
          <c:extLst>
            <c:ext xmlns:c16="http://schemas.microsoft.com/office/drawing/2014/chart" uri="{C3380CC4-5D6E-409C-BE32-E72D297353CC}">
              <c16:uniqueId val="{00000000-2B44-4A04-A1C0-9B7A8B54D0C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6E"/>
                </a:solidFill>
                <a:latin typeface="+mn-lt"/>
              </a:defRPr>
            </a:pPr>
            <a:endParaRPr lang="en-US"/>
          </a:p>
        </c:txPr>
        <c:crossAx val="2094734552"/>
        <c:crosses val="autoZero"/>
        <c:auto val="1"/>
        <c:lblAlgn val="ctr"/>
        <c:lblOffset val="100"/>
        <c:noMultiLvlLbl val="1"/>
      </c:catAx>
      <c:valAx>
        <c:axId val="2094734552"/>
        <c:scaling>
          <c:orientation val="minMax"/>
          <c:max val="45"/>
        </c:scaling>
        <c:delete val="0"/>
        <c:axPos val="l"/>
        <c:majorGridlines>
          <c:spPr>
            <a:ln w="6350" cap="flat">
              <a:solidFill>
                <a:srgbClr val="D5E3E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6E"/>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E33"/>
                </a:solidFill>
                <a:latin typeface="+mn-lt"/>
              </a:defRPr>
            </a:pPr>
            <a:r>
              <a:rPr lang="en-US" sz="1300" b="0" i="0" u="none" strike="noStrike">
                <a:solidFill>
                  <a:srgbClr val="0B2E33"/>
                </a:solidFill>
                <a:latin typeface="+mn-lt"/>
              </a:rPr>
              <a:t>Net profit on 10,000 customers</a:t>
            </a:r>
          </a:p>
        </c:rich>
      </c:tx>
      <c:overlay val="0"/>
    </c:title>
    <c:autoTitleDeleted val="0"/>
    <c:plotArea>
      <c:layout/>
      <c:barChart>
        <c:barDir val="col"/>
        <c:grouping val="clustered"/>
        <c:varyColors val="0"/>
        <c:ser>
          <c:idx val="0"/>
          <c:order val="0"/>
          <c:tx>
            <c:strRef>
              <c:f>Sheet1!$B$1</c:f>
              <c:strCache>
                <c:ptCount val="1"/>
                <c:pt idx="0">
                  <c:v>Profit</c:v>
                </c:pt>
              </c:strCache>
            </c:strRef>
          </c:tx>
          <c:spPr>
            <a:solidFill>
              <a:srgbClr val="E8604C"/>
            </a:solidFill>
            <a:effectLst/>
          </c:spPr>
          <c:invertIfNegative val="0"/>
          <c:dPt>
            <c:idx val="0"/>
            <c:invertIfNegative val="0"/>
            <c:bubble3D val="0"/>
            <c:spPr>
              <a:solidFill>
                <a:srgbClr val="E8604C"/>
              </a:solidFill>
              <a:effectLst/>
            </c:spPr>
            <c:extLst>
              <c:ext xmlns:c16="http://schemas.microsoft.com/office/drawing/2014/chart" uri="{C3380CC4-5D6E-409C-BE32-E72D297353CC}">
                <c16:uniqueId val="{00000001-7FE8-4C31-B86C-FEACE977668D}"/>
              </c:ext>
            </c:extLst>
          </c:dPt>
          <c:dPt>
            <c:idx val="1"/>
            <c:invertIfNegative val="0"/>
            <c:bubble3D val="0"/>
            <c:spPr>
              <a:solidFill>
                <a:srgbClr val="D5E3E2"/>
              </a:solidFill>
              <a:effectLst/>
            </c:spPr>
            <c:extLst>
              <c:ext xmlns:c16="http://schemas.microsoft.com/office/drawing/2014/chart" uri="{C3380CC4-5D6E-409C-BE32-E72D297353CC}">
                <c16:uniqueId val="{00000003-7FE8-4C31-B86C-FEACE977668D}"/>
              </c:ext>
            </c:extLst>
          </c:dPt>
          <c:dPt>
            <c:idx val="2"/>
            <c:invertIfNegative val="0"/>
            <c:bubble3D val="0"/>
            <c:spPr>
              <a:solidFill>
                <a:srgbClr val="00BFB3"/>
              </a:solidFill>
              <a:effectLst/>
            </c:spPr>
            <c:extLst>
              <c:ext xmlns:c16="http://schemas.microsoft.com/office/drawing/2014/chart" uri="{C3380CC4-5D6E-409C-BE32-E72D297353CC}">
                <c16:uniqueId val="{00000005-7FE8-4C31-B86C-FEACE977668D}"/>
              </c:ext>
            </c:extLst>
          </c:dPt>
          <c:dPt>
            <c:idx val="3"/>
            <c:invertIfNegative val="0"/>
            <c:bubble3D val="0"/>
            <c:spPr>
              <a:solidFill>
                <a:srgbClr val="0B2E33"/>
              </a:solidFill>
              <a:effectLst/>
            </c:spPr>
            <c:extLst>
              <c:ext xmlns:c16="http://schemas.microsoft.com/office/drawing/2014/chart" uri="{C3380CC4-5D6E-409C-BE32-E72D297353CC}">
                <c16:uniqueId val="{00000007-7FE8-4C31-B86C-FEACE977668D}"/>
              </c:ext>
            </c:extLst>
          </c:dPt>
          <c:dLbls>
            <c:numFmt formatCode="#,##0" sourceLinked="0"/>
            <c:spPr>
              <a:noFill/>
              <a:ln>
                <a:noFill/>
              </a:ln>
              <a:effectLst/>
            </c:spPr>
            <c:txPr>
              <a:bodyPr/>
              <a:lstStyle/>
              <a:p>
                <a:pPr>
                  <a:defRPr sz="1100" b="0" i="0" u="none" strike="noStrike">
                    <a:solidFill>
                      <a:srgbClr val="0B2E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Call everyone</c:v>
                </c:pt>
                <c:pt idx="1">
                  <c:v>Call nobody</c:v>
                </c:pt>
                <c:pt idx="2">
                  <c:v>Our model</c:v>
                </c:pt>
                <c:pt idx="3">
                  <c:v>Perfect model</c:v>
                </c:pt>
              </c:strCache>
            </c:strRef>
          </c:cat>
          <c:val>
            <c:numRef>
              <c:f>Sheet1!$B$2:$B$5</c:f>
              <c:numCache>
                <c:formatCode>General</c:formatCode>
                <c:ptCount val="4"/>
                <c:pt idx="0">
                  <c:v>-1538745</c:v>
                </c:pt>
                <c:pt idx="1">
                  <c:v>0</c:v>
                </c:pt>
                <c:pt idx="2">
                  <c:v>379362</c:v>
                </c:pt>
                <c:pt idx="3">
                  <c:v>1124301</c:v>
                </c:pt>
              </c:numCache>
            </c:numRef>
          </c:val>
          <c:extLst>
            <c:ext xmlns:c16="http://schemas.microsoft.com/office/drawing/2014/chart" uri="{C3380CC4-5D6E-409C-BE32-E72D297353CC}">
              <c16:uniqueId val="{00000008-7FE8-4C31-B86C-FEACE977668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6E"/>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5E3E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6E"/>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38174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deck follows the questions in the case brief, then the bonus. Every number comes from the executed notebook.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results. The model is a regularised logistic regression on 14 inputs known before the call.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aim is classification, the secondary overlays money on it, and the bonus applies it to a real list.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are all inputs relevant? Q2: what does the data look like, any outliers or corrections? Data is complete; fixes are small.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AUC jumps from 0.80 to 0.94 with call duration, but duration is only known after the call, so it would not exist at decision time. Response rate by duration band is shown on the right.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discriminating power via IV and univariate AUC, computed on training data only. Q4 high correlations: three macro variables correlate 0.91-0.97, so we keep 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imbalance, Q6 scales, Q7 encoding, Q8 binning, Q9 split, Q10 validation.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Q11 which model is best, Q14 fit different models, Q15 how to optimise. All three are within one standard error (0.0049) of the best, so logistic regression is chosen by the one-standard-error rule.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Q12 over/under-fit: train vs CV gap, hold-out test, calibration. Q13 variable importance by permutation: shuffling the employment variation rate drops AUC by 0.24. That shows how much the fitted model leans on it; a refit without the macro variables loses about 0.04 AUC, because other columns partly substitute.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Calendar risk test. Random CV and grouped CV (holding out whole macro-value combinations, 373 in total) give nearly the same AUC for the full model, so it is not just memorising periods. Without the macro variables AUC falls to about 0.76 and profit to about 293k per 10,000, which is the fallback. Caveat: no call dates exist (row order is not time), so a true time-based hold-out was not possible, and a regime change outside the observed range is untested.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sale = 0.10*285 + 0.25*705 + 0.65*1225 = 1,001. Wasted call = -300. Break-even probability = 300 / (1,001 + 300) = 0.2306. Default 0.5 earns far less because it misses most buyers.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set at cut-off 0.2306: TN 8590, FP 728, FN 563, TP 616. Precision 0.46, recall 0.52, accuracy 0.877. Never calling anyone scores 88.8% accuracy, so accuracy is the wrong yardstick.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Test-set confusion rates applied to 10,000 customers across risk bands (10/25/65%). (a) net profit = sales profit minus wasted calls. (b) lost opportunity = missed buyers, plus wasted calls if you count both. Bootstrap 95% interval for profit is about 331k to 428k.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Benchmarks on the 10,000 list: call everyone loses 1,538,745; call nobody earns 0; the model earns 379,362; a perfect model earns 1,124,301. The model captures 34% of the achievable profit.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Profit = pi * R * n * [V - c * (1/P - 1)]. Break-even precision is c/(V+c) = 23.06% at any recall. Profit-optimal on test is about 0.43 precision and 54% recall. Maximising accuracy earns roughly a third less than maximising profit. Reusable functions are in Stage 6B of the notebook.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from the notebook: macro variables act as a calendar, random rather than time-based split, new list may convert differently, masked categories.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decision: use the model with the economic cut-off, pilot first.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2E33"/>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E"/>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D">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66928"/>
            <a:ext cx="8229600" cy="594360"/>
          </a:xfrm>
          <a:prstGeom prst="rect">
            <a:avLst/>
          </a:prstGeom>
          <a:noFill/>
          <a:ln/>
        </p:spPr>
        <p:txBody>
          <a:bodyPr wrap="square" rtlCol="0"/>
          <a:lstStyle>
            <a:lvl1pPr marL="0" indent="0" algn="l">
              <a:buNone/>
              <a:defRPr lang="en-US" sz="2800" b="1" dirty="0">
                <a:solidFill>
                  <a:srgbClr val="0B2E33"/>
                </a:solidFill>
                <a:latin typeface="Calibri" pitchFamily="34" charset="0"/>
                <a:ea typeface="Calibri" pitchFamily="34" charset="-122"/>
                <a:cs typeface="Calibri" pitchFamily="34" charset="-120"/>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E"/>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E"/>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57200" y="548640"/>
            <a:ext cx="457200" cy="457200"/>
          </a:xfrm>
          <a:prstGeom prst="ellipse">
            <a:avLst/>
          </a:prstGeom>
          <a:solidFill>
            <a:srgbClr val="00BFB3"/>
          </a:solidFill>
          <a:ln w="12700">
            <a:solidFill>
              <a:srgbClr val="00BFB3"/>
            </a:solidFill>
            <a:prstDash val="solid"/>
          </a:ln>
        </p:spPr>
        <p:txBody>
          <a:bodyPr/>
          <a:lstStyle/>
          <a:p>
            <a:endParaRPr lang="en-PH"/>
          </a:p>
        </p:txBody>
      </p:sp>
      <p:sp>
        <p:nvSpPr>
          <p:cNvPr id="3" name="Text 1"/>
          <p:cNvSpPr txBox="1"/>
          <p:nvPr/>
        </p:nvSpPr>
        <p:spPr>
          <a:xfrm>
            <a:off x="1051560" y="603504"/>
            <a:ext cx="5486400" cy="365760"/>
          </a:xfrm>
          <a:prstGeom prst="rect">
            <a:avLst/>
          </a:prstGeom>
          <a:noFill/>
          <a:ln/>
        </p:spPr>
        <p:txBody>
          <a:bodyPr wrap="square" lIns="0" tIns="0" rIns="0" bIns="0" rtlCol="0" anchor="ctr"/>
          <a:lstStyle/>
          <a:p>
            <a:pPr marL="0" indent="0">
              <a:buNone/>
            </a:pPr>
            <a:r>
              <a:rPr lang="en-US" sz="1600" dirty="0">
                <a:solidFill>
                  <a:srgbClr val="7FDFD8"/>
                </a:solidFill>
                <a:latin typeface="Calibri" pitchFamily="34" charset="0"/>
                <a:ea typeface="Calibri" pitchFamily="34" charset="-122"/>
                <a:cs typeface="Calibri" pitchFamily="34" charset="-120"/>
              </a:rPr>
              <a:t>GoTyme data science case study</a:t>
            </a:r>
            <a:endParaRPr lang="en-US" sz="1600" dirty="0"/>
          </a:p>
        </p:txBody>
      </p:sp>
      <p:sp>
        <p:nvSpPr>
          <p:cNvPr id="4" name="Text 2"/>
          <p:cNvSpPr txBox="1"/>
          <p:nvPr/>
        </p:nvSpPr>
        <p:spPr>
          <a:xfrm>
            <a:off x="457200" y="1554480"/>
            <a:ext cx="7498080" cy="146304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Predicting who says yes to a cold call, and what it is worth</a:t>
            </a:r>
            <a:endParaRPr lang="en-US" sz="4000" dirty="0"/>
          </a:p>
        </p:txBody>
      </p:sp>
      <p:sp>
        <p:nvSpPr>
          <p:cNvPr id="5" name="Text 3"/>
          <p:cNvSpPr txBox="1"/>
          <p:nvPr/>
        </p:nvSpPr>
        <p:spPr>
          <a:xfrm>
            <a:off x="457200" y="3246120"/>
            <a:ext cx="7315200" cy="457200"/>
          </a:xfrm>
          <a:prstGeom prst="rect">
            <a:avLst/>
          </a:prstGeom>
          <a:noFill/>
          <a:ln/>
        </p:spPr>
        <p:txBody>
          <a:bodyPr wrap="square" lIns="0" tIns="0" rIns="0" bIns="0" rtlCol="0" anchor="t"/>
          <a:lstStyle/>
          <a:p>
            <a:pPr marL="0" indent="0">
              <a:buNone/>
            </a:pPr>
            <a:r>
              <a:rPr lang="en-US" sz="1800" dirty="0">
                <a:solidFill>
                  <a:srgbClr val="BFD9D7"/>
                </a:solidFill>
                <a:latin typeface="Calibri" pitchFamily="34" charset="0"/>
                <a:ea typeface="Calibri" pitchFamily="34" charset="-122"/>
                <a:cs typeface="Calibri" pitchFamily="34" charset="-120"/>
              </a:rPr>
              <a:t>Response model, cut-off decision and campaign profit on a 10,000-customer list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256032"/>
            <a:ext cx="726948" cy="256032"/>
          </a:xfrm>
          <a:prstGeom prst="roundRect">
            <a:avLst>
              <a:gd name="adj" fmla="val 50000"/>
            </a:avLst>
          </a:prstGeom>
          <a:solidFill>
            <a:srgbClr val="00BFB3"/>
          </a:solidFill>
          <a:ln w="12700">
            <a:solidFill>
              <a:srgbClr val="00BFB3"/>
            </a:solidFill>
            <a:prstDash val="solid"/>
          </a:ln>
        </p:spPr>
        <p:txBody>
          <a:bodyPr/>
          <a:lstStyle/>
          <a:p>
            <a:endParaRPr lang="en-PH"/>
          </a:p>
        </p:txBody>
      </p:sp>
      <p:sp>
        <p:nvSpPr>
          <p:cNvPr id="3" name="Text 1"/>
          <p:cNvSpPr txBox="1"/>
          <p:nvPr/>
        </p:nvSpPr>
        <p:spPr>
          <a:xfrm>
            <a:off x="457200" y="256032"/>
            <a:ext cx="726948" cy="256032"/>
          </a:xfrm>
          <a:prstGeom prst="rect">
            <a:avLst/>
          </a:prstGeom>
          <a:noFill/>
          <a:ln/>
        </p:spPr>
        <p:txBody>
          <a:bodyPr wrap="square" lIns="0" tIns="0" rIns="0" bIns="0" rtlCol="0" anchor="ctr"/>
          <a:lstStyle/>
          <a:p>
            <a:pPr marL="0" indent="0" algn="ctr">
              <a:buNone/>
            </a:pPr>
            <a:r>
              <a:rPr lang="en-US" sz="1100" b="1" dirty="0">
                <a:solidFill>
                  <a:srgbClr val="0B2E33"/>
                </a:solidFill>
                <a:latin typeface="Calibri" pitchFamily="34" charset="0"/>
                <a:ea typeface="Calibri" pitchFamily="34" charset="-122"/>
                <a:cs typeface="Calibri" pitchFamily="34" charset="-120"/>
              </a:rPr>
              <a:t>SUMMARY</a:t>
            </a:r>
            <a:endParaRPr lang="en-US" sz="1100" dirty="0"/>
          </a:p>
        </p:txBody>
      </p:sp>
      <p:sp>
        <p:nvSpPr>
          <p:cNvPr id="4" name="Text 0"/>
          <p:cNvSpPr>
            <a:spLocks noGrp="1"/>
          </p:cNvSpPr>
          <p:nvPr>
            <p:ph type="title" idx="100" hasCustomPrompt="1"/>
          </p:nvPr>
        </p:nvSpPr>
        <p:spPr>
          <a:xfrm>
            <a:off x="457200" y="566928"/>
            <a:ext cx="8430768" cy="621792"/>
          </a:xfrm>
          <a:prstGeom prst="rect">
            <a:avLst/>
          </a:prstGeom>
          <a:noFill/>
          <a:ln/>
        </p:spPr>
        <p:txBody>
          <a:bodyPr wrap="square" lIns="0" tIns="0" rIns="0" bIns="0" rtlCol="0" anchor="t"/>
          <a:lstStyle/>
          <a:p>
            <a:pPr marL="0" indent="0" algn="l">
              <a:buNone/>
            </a:pPr>
            <a:r>
              <a:rPr lang="en-US" b="1" dirty="0">
                <a:solidFill>
                  <a:srgbClr val="0B2E33"/>
                </a:solidFill>
                <a:latin typeface="Calibri" pitchFamily="34" charset="0"/>
                <a:ea typeface="Calibri" pitchFamily="34" charset="-122"/>
                <a:cs typeface="Calibri" pitchFamily="34" charset="-120"/>
              </a:rPr>
              <a:t>An estimated net profit of about 380k per 10,000 </a:t>
            </a:r>
            <a:r>
              <a:rPr lang="en-US" dirty="0"/>
              <a:t>prospects</a:t>
            </a:r>
          </a:p>
        </p:txBody>
      </p:sp>
      <p:sp>
        <p:nvSpPr>
          <p:cNvPr id="6" name="card"/>
          <p:cNvSpPr/>
          <p:nvPr/>
        </p:nvSpPr>
        <p:spPr>
          <a:xfrm>
            <a:off x="457200" y="1463040"/>
            <a:ext cx="1920240" cy="1828800"/>
          </a:xfrm>
          <a:prstGeom prst="roundRect">
            <a:avLst>
              <a:gd name="adj" fmla="val 4000"/>
            </a:avLst>
          </a:prstGeom>
          <a:solidFill>
            <a:srgbClr val="E8F7F6"/>
          </a:solidFill>
          <a:ln w="12700">
            <a:solidFill>
              <a:srgbClr val="E8F7F6"/>
            </a:solidFill>
            <a:prstDash val="solid"/>
          </a:ln>
        </p:spPr>
        <p:txBody>
          <a:bodyPr/>
          <a:lstStyle/>
          <a:p>
            <a:endParaRPr lang="en-PH"/>
          </a:p>
        </p:txBody>
      </p:sp>
      <p:sp>
        <p:nvSpPr>
          <p:cNvPr id="7" name="Text 4"/>
          <p:cNvSpPr txBox="1"/>
          <p:nvPr/>
        </p:nvSpPr>
        <p:spPr>
          <a:xfrm>
            <a:off x="640080" y="1645920"/>
            <a:ext cx="1645920" cy="731520"/>
          </a:xfrm>
          <a:prstGeom prst="rect">
            <a:avLst/>
          </a:prstGeom>
          <a:noFill/>
          <a:ln/>
        </p:spPr>
        <p:txBody>
          <a:bodyPr wrap="square" lIns="0" tIns="0" rIns="0" bIns="0" rtlCol="0" anchor="t"/>
          <a:lstStyle/>
          <a:p>
            <a:pPr marL="0" indent="0">
              <a:buNone/>
            </a:pPr>
            <a:r>
              <a:rPr lang="en-US" sz="4000" b="1" dirty="0">
                <a:solidFill>
                  <a:srgbClr val="0B2E33"/>
                </a:solidFill>
                <a:latin typeface="Calibri" pitchFamily="34" charset="0"/>
                <a:ea typeface="Calibri" pitchFamily="34" charset="-122"/>
                <a:cs typeface="Calibri" pitchFamily="34" charset="-120"/>
              </a:rPr>
              <a:t>0.80</a:t>
            </a:r>
            <a:endParaRPr lang="en-US" sz="4000" dirty="0"/>
          </a:p>
        </p:txBody>
      </p:sp>
      <p:sp>
        <p:nvSpPr>
          <p:cNvPr id="8" name="Text 5"/>
          <p:cNvSpPr txBox="1"/>
          <p:nvPr/>
        </p:nvSpPr>
        <p:spPr>
          <a:xfrm>
            <a:off x="640080" y="2423160"/>
            <a:ext cx="1600200" cy="77724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Test AUC (Gini 0.60, KS 0.50)</a:t>
            </a:r>
            <a:endParaRPr lang="en-US" sz="1300" dirty="0"/>
          </a:p>
        </p:txBody>
      </p:sp>
      <p:sp>
        <p:nvSpPr>
          <p:cNvPr id="9" name="card"/>
          <p:cNvSpPr/>
          <p:nvPr/>
        </p:nvSpPr>
        <p:spPr>
          <a:xfrm>
            <a:off x="2560320" y="1463040"/>
            <a:ext cx="1920240" cy="1828800"/>
          </a:xfrm>
          <a:prstGeom prst="roundRect">
            <a:avLst>
              <a:gd name="adj" fmla="val 4000"/>
            </a:avLst>
          </a:prstGeom>
          <a:solidFill>
            <a:srgbClr val="E8F7F6"/>
          </a:solidFill>
          <a:ln w="12700">
            <a:solidFill>
              <a:srgbClr val="E8F7F6"/>
            </a:solidFill>
            <a:prstDash val="solid"/>
          </a:ln>
        </p:spPr>
        <p:txBody>
          <a:bodyPr/>
          <a:lstStyle/>
          <a:p>
            <a:endParaRPr lang="en-PH"/>
          </a:p>
        </p:txBody>
      </p:sp>
      <p:sp>
        <p:nvSpPr>
          <p:cNvPr id="10" name="Text 7"/>
          <p:cNvSpPr txBox="1"/>
          <p:nvPr/>
        </p:nvSpPr>
        <p:spPr>
          <a:xfrm>
            <a:off x="2743200" y="1645920"/>
            <a:ext cx="1645920" cy="731520"/>
          </a:xfrm>
          <a:prstGeom prst="rect">
            <a:avLst/>
          </a:prstGeom>
          <a:noFill/>
          <a:ln/>
        </p:spPr>
        <p:txBody>
          <a:bodyPr wrap="square" lIns="0" tIns="0" rIns="0" bIns="0" rtlCol="0" anchor="t"/>
          <a:lstStyle/>
          <a:p>
            <a:pPr marL="0" indent="0">
              <a:buNone/>
            </a:pPr>
            <a:r>
              <a:rPr lang="en-US" sz="4000" b="1" dirty="0">
                <a:solidFill>
                  <a:srgbClr val="0B2E33"/>
                </a:solidFill>
                <a:latin typeface="Calibri" pitchFamily="34" charset="0"/>
                <a:ea typeface="Calibri" pitchFamily="34" charset="-122"/>
                <a:cs typeface="Calibri" pitchFamily="34" charset="-120"/>
              </a:rPr>
              <a:t>13%</a:t>
            </a:r>
            <a:endParaRPr lang="en-US" sz="4000" dirty="0"/>
          </a:p>
        </p:txBody>
      </p:sp>
      <p:sp>
        <p:nvSpPr>
          <p:cNvPr id="11" name="Text 8"/>
          <p:cNvSpPr txBox="1"/>
          <p:nvPr/>
        </p:nvSpPr>
        <p:spPr>
          <a:xfrm>
            <a:off x="2743200" y="2423160"/>
            <a:ext cx="1600200" cy="77724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of the list called, capturing about half of all buyers</a:t>
            </a:r>
            <a:endParaRPr lang="en-US" sz="1300" dirty="0"/>
          </a:p>
        </p:txBody>
      </p:sp>
      <p:sp>
        <p:nvSpPr>
          <p:cNvPr id="12" name="card"/>
          <p:cNvSpPr/>
          <p:nvPr/>
        </p:nvSpPr>
        <p:spPr>
          <a:xfrm>
            <a:off x="4663440" y="1463040"/>
            <a:ext cx="1920240" cy="1828800"/>
          </a:xfrm>
          <a:prstGeom prst="roundRect">
            <a:avLst>
              <a:gd name="adj" fmla="val 4000"/>
            </a:avLst>
          </a:prstGeom>
          <a:solidFill>
            <a:srgbClr val="E8F7F6"/>
          </a:solidFill>
          <a:ln w="12700">
            <a:solidFill>
              <a:srgbClr val="E8F7F6"/>
            </a:solidFill>
            <a:prstDash val="solid"/>
          </a:ln>
        </p:spPr>
        <p:txBody>
          <a:bodyPr/>
          <a:lstStyle/>
          <a:p>
            <a:endParaRPr lang="en-PH"/>
          </a:p>
        </p:txBody>
      </p:sp>
      <p:sp>
        <p:nvSpPr>
          <p:cNvPr id="13" name="Text 10"/>
          <p:cNvSpPr txBox="1"/>
          <p:nvPr/>
        </p:nvSpPr>
        <p:spPr>
          <a:xfrm>
            <a:off x="4846320" y="1645920"/>
            <a:ext cx="1645920" cy="731520"/>
          </a:xfrm>
          <a:prstGeom prst="rect">
            <a:avLst/>
          </a:prstGeom>
          <a:noFill/>
          <a:ln/>
        </p:spPr>
        <p:txBody>
          <a:bodyPr wrap="square" lIns="0" tIns="0" rIns="0" bIns="0" rtlCol="0" anchor="t"/>
          <a:lstStyle/>
          <a:p>
            <a:pPr marL="0" indent="0">
              <a:buNone/>
            </a:pPr>
            <a:r>
              <a:rPr lang="en-US" sz="4000" b="1" dirty="0">
                <a:solidFill>
                  <a:srgbClr val="0B2E33"/>
                </a:solidFill>
                <a:latin typeface="Calibri" pitchFamily="34" charset="0"/>
                <a:ea typeface="Calibri" pitchFamily="34" charset="-122"/>
                <a:cs typeface="Calibri" pitchFamily="34" charset="-120"/>
              </a:rPr>
              <a:t>≈380k</a:t>
            </a:r>
            <a:endParaRPr lang="en-US" sz="4000" dirty="0"/>
          </a:p>
        </p:txBody>
      </p:sp>
      <p:sp>
        <p:nvSpPr>
          <p:cNvPr id="14" name="Text 11"/>
          <p:cNvSpPr txBox="1"/>
          <p:nvPr/>
        </p:nvSpPr>
        <p:spPr>
          <a:xfrm>
            <a:off x="4846320" y="2423160"/>
            <a:ext cx="1600200" cy="77724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expected net profit per 10,000 customers</a:t>
            </a:r>
            <a:endParaRPr lang="en-US" sz="1300" dirty="0"/>
          </a:p>
        </p:txBody>
      </p:sp>
      <p:sp>
        <p:nvSpPr>
          <p:cNvPr id="15" name="card"/>
          <p:cNvSpPr/>
          <p:nvPr/>
        </p:nvSpPr>
        <p:spPr>
          <a:xfrm>
            <a:off x="6766560" y="1463040"/>
            <a:ext cx="1920240" cy="1828800"/>
          </a:xfrm>
          <a:prstGeom prst="roundRect">
            <a:avLst>
              <a:gd name="adj" fmla="val 4000"/>
            </a:avLst>
          </a:prstGeom>
          <a:solidFill>
            <a:srgbClr val="E8F7F6"/>
          </a:solidFill>
          <a:ln w="12700">
            <a:solidFill>
              <a:srgbClr val="E8F7F6"/>
            </a:solidFill>
            <a:prstDash val="solid"/>
          </a:ln>
        </p:spPr>
        <p:txBody>
          <a:bodyPr/>
          <a:lstStyle/>
          <a:p>
            <a:endParaRPr lang="en-PH"/>
          </a:p>
        </p:txBody>
      </p:sp>
      <p:sp>
        <p:nvSpPr>
          <p:cNvPr id="16" name="Text 13"/>
          <p:cNvSpPr txBox="1"/>
          <p:nvPr/>
        </p:nvSpPr>
        <p:spPr>
          <a:xfrm>
            <a:off x="6949440" y="1645920"/>
            <a:ext cx="1645920" cy="731520"/>
          </a:xfrm>
          <a:prstGeom prst="rect">
            <a:avLst/>
          </a:prstGeom>
          <a:noFill/>
          <a:ln/>
        </p:spPr>
        <p:txBody>
          <a:bodyPr wrap="square" lIns="0" tIns="0" rIns="0" bIns="0" rtlCol="0" anchor="t"/>
          <a:lstStyle/>
          <a:p>
            <a:pPr marL="0" indent="0">
              <a:buNone/>
            </a:pPr>
            <a:r>
              <a:rPr lang="en-US" sz="4000" b="1" dirty="0">
                <a:solidFill>
                  <a:srgbClr val="E8604C"/>
                </a:solidFill>
                <a:latin typeface="Calibri" pitchFamily="34" charset="0"/>
                <a:ea typeface="Calibri" pitchFamily="34" charset="-122"/>
                <a:cs typeface="Calibri" pitchFamily="34" charset="-120"/>
              </a:rPr>
              <a:t>≈745k</a:t>
            </a:r>
            <a:endParaRPr lang="en-US" sz="4000" dirty="0"/>
          </a:p>
        </p:txBody>
      </p:sp>
      <p:sp>
        <p:nvSpPr>
          <p:cNvPr id="17" name="Text 14"/>
          <p:cNvSpPr txBox="1"/>
          <p:nvPr/>
        </p:nvSpPr>
        <p:spPr>
          <a:xfrm>
            <a:off x="6949440" y="2423160"/>
            <a:ext cx="1600200" cy="77724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profit lost to misclassification</a:t>
            </a:r>
            <a:endParaRPr lang="en-US" sz="1300" dirty="0"/>
          </a:p>
        </p:txBody>
      </p:sp>
      <p:sp>
        <p:nvSpPr>
          <p:cNvPr id="18" name="Text 15"/>
          <p:cNvSpPr txBox="1"/>
          <p:nvPr/>
        </p:nvSpPr>
        <p:spPr>
          <a:xfrm>
            <a:off x="457200" y="3657600"/>
            <a:ext cx="8229600" cy="822960"/>
          </a:xfrm>
          <a:prstGeom prst="rect">
            <a:avLst/>
          </a:prstGeom>
          <a:noFill/>
          <a:ln/>
        </p:spPr>
        <p:txBody>
          <a:bodyPr wrap="square" lIns="0" tIns="0" rIns="0" bIns="0" rtlCol="0" anchor="t"/>
          <a:lstStyle/>
          <a:p>
            <a:pPr marL="0" indent="0">
              <a:buNone/>
            </a:pPr>
            <a:r>
              <a:rPr lang="en-US" sz="1600" b="1" dirty="0">
                <a:solidFill>
                  <a:srgbClr val="0B2E33"/>
                </a:solidFill>
                <a:latin typeface="Calibri" pitchFamily="34" charset="0"/>
                <a:ea typeface="Calibri" pitchFamily="34" charset="-122"/>
                <a:cs typeface="Calibri" pitchFamily="34" charset="-120"/>
              </a:rPr>
              <a:t>Call only customers scoring above the 23% break-even probability. </a:t>
            </a:r>
            <a:r>
              <a:rPr lang="en-US" sz="1600" dirty="0">
                <a:solidFill>
                  <a:srgbClr val="0B2E33"/>
                </a:solidFill>
                <a:latin typeface="Calibri" pitchFamily="34" charset="0"/>
                <a:ea typeface="Calibri" pitchFamily="34" charset="-122"/>
                <a:cs typeface="Calibri" pitchFamily="34" charset="-120"/>
              </a:rPr>
              <a:t>Call duration is excluded as leakage; the economic cycle is the strongest driver, which is the main risk to watch.</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E"/>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256032"/>
            <a:ext cx="882396" cy="256032"/>
          </a:xfrm>
          <a:prstGeom prst="roundRect">
            <a:avLst>
              <a:gd name="adj" fmla="val 50000"/>
            </a:avLst>
          </a:prstGeom>
          <a:solidFill>
            <a:srgbClr val="00BFB3"/>
          </a:solidFill>
          <a:ln w="12700">
            <a:solidFill>
              <a:srgbClr val="00BFB3"/>
            </a:solidFill>
            <a:prstDash val="solid"/>
          </a:ln>
        </p:spPr>
        <p:txBody>
          <a:bodyPr/>
          <a:lstStyle/>
          <a:p>
            <a:endParaRPr lang="en-PH"/>
          </a:p>
        </p:txBody>
      </p:sp>
      <p:sp>
        <p:nvSpPr>
          <p:cNvPr id="3" name="Text 1"/>
          <p:cNvSpPr txBox="1"/>
          <p:nvPr/>
        </p:nvSpPr>
        <p:spPr>
          <a:xfrm>
            <a:off x="457200" y="256032"/>
            <a:ext cx="882396" cy="256032"/>
          </a:xfrm>
          <a:prstGeom prst="rect">
            <a:avLst/>
          </a:prstGeom>
          <a:noFill/>
          <a:ln/>
        </p:spPr>
        <p:txBody>
          <a:bodyPr wrap="square" lIns="0" tIns="0" rIns="0" bIns="0" rtlCol="0" anchor="ctr"/>
          <a:lstStyle/>
          <a:p>
            <a:pPr marL="0" indent="0" algn="ctr">
              <a:buNone/>
            </a:pPr>
            <a:r>
              <a:rPr lang="en-US" sz="1100" b="1" dirty="0">
                <a:solidFill>
                  <a:srgbClr val="0B2E33"/>
                </a:solidFill>
                <a:latin typeface="Calibri" pitchFamily="34" charset="0"/>
                <a:ea typeface="Calibri" pitchFamily="34" charset="-122"/>
                <a:cs typeface="Calibri" pitchFamily="34" charset="-120"/>
              </a:rPr>
              <a:t>THE BRIEF</a:t>
            </a:r>
            <a:endParaRPr lang="en-US" sz="1100" dirty="0"/>
          </a:p>
        </p:txBody>
      </p:sp>
      <p:sp>
        <p:nvSpPr>
          <p:cNvPr id="4" name="Text 0"/>
          <p:cNvSpPr>
            <a:spLocks noGrp="1"/>
          </p:cNvSpPr>
          <p:nvPr>
            <p:ph type="title" idx="100" hasCustomPrompt="1"/>
          </p:nvPr>
        </p:nvSpPr>
        <p:spPr>
          <a:xfrm>
            <a:off x="457200" y="566928"/>
            <a:ext cx="8229600" cy="594360"/>
          </a:xfrm>
          <a:prstGeom prst="rect">
            <a:avLst/>
          </a:prstGeom>
          <a:noFill/>
          <a:ln/>
        </p:spPr>
        <p:txBody>
          <a:bodyPr wrap="square" lIns="0" tIns="0" rIns="0" bIns="0" rtlCol="0" anchor="t"/>
          <a:lstStyle/>
          <a:p>
            <a:pPr marL="0" indent="0" algn="l">
              <a:buNone/>
            </a:pPr>
            <a:r>
              <a:rPr lang="en-US" sz="2800" b="1" dirty="0">
                <a:solidFill>
                  <a:srgbClr val="0B2E33"/>
                </a:solidFill>
                <a:latin typeface="Calibri" pitchFamily="34" charset="0"/>
                <a:ea typeface="Calibri" pitchFamily="34" charset="-122"/>
                <a:cs typeface="Calibri" pitchFamily="34" charset="-120"/>
              </a:rPr>
              <a:t>Three asks from the company</a:t>
            </a:r>
            <a:endParaRPr lang="en-US" sz="2800" dirty="0"/>
          </a:p>
        </p:txBody>
      </p:sp>
      <p:sp>
        <p:nvSpPr>
          <p:cNvPr id="6" name="card"/>
          <p:cNvSpPr/>
          <p:nvPr/>
        </p:nvSpPr>
        <p:spPr>
          <a:xfrm>
            <a:off x="457200" y="1463040"/>
            <a:ext cx="2651760" cy="2834640"/>
          </a:xfrm>
          <a:prstGeom prst="roundRect">
            <a:avLst>
              <a:gd name="adj" fmla="val 2759"/>
            </a:avLst>
          </a:prstGeom>
          <a:solidFill>
            <a:srgbClr val="E8F7F6"/>
          </a:solidFill>
          <a:ln w="12700">
            <a:solidFill>
              <a:srgbClr val="E8F7F6"/>
            </a:solidFill>
            <a:prstDash val="solid"/>
          </a:ln>
        </p:spPr>
        <p:txBody>
          <a:bodyPr/>
          <a:lstStyle/>
          <a:p>
            <a:endParaRPr lang="en-PH"/>
          </a:p>
        </p:txBody>
      </p:sp>
      <p:sp>
        <p:nvSpPr>
          <p:cNvPr id="7" name="Text 4"/>
          <p:cNvSpPr txBox="1"/>
          <p:nvPr/>
        </p:nvSpPr>
        <p:spPr>
          <a:xfrm>
            <a:off x="685800" y="1645920"/>
            <a:ext cx="2194560" cy="365760"/>
          </a:xfrm>
          <a:prstGeom prst="rect">
            <a:avLst/>
          </a:prstGeom>
          <a:noFill/>
          <a:ln/>
        </p:spPr>
        <p:txBody>
          <a:bodyPr wrap="square" lIns="0" tIns="0" rIns="0" bIns="0" rtlCol="0" anchor="t"/>
          <a:lstStyle/>
          <a:p>
            <a:pPr marL="0" indent="0">
              <a:buNone/>
            </a:pPr>
            <a:r>
              <a:rPr lang="en-US" sz="2000" b="1" dirty="0">
                <a:solidFill>
                  <a:srgbClr val="0B2E33"/>
                </a:solidFill>
                <a:latin typeface="Calibri" pitchFamily="34" charset="0"/>
                <a:ea typeface="Calibri" pitchFamily="34" charset="-122"/>
                <a:cs typeface="Calibri" pitchFamily="34" charset="-120"/>
              </a:rPr>
              <a:t>Primary</a:t>
            </a:r>
            <a:endParaRPr lang="en-US" sz="2000" dirty="0"/>
          </a:p>
        </p:txBody>
      </p:sp>
      <p:sp>
        <p:nvSpPr>
          <p:cNvPr id="8" name="Text 5"/>
          <p:cNvSpPr txBox="1"/>
          <p:nvPr/>
        </p:nvSpPr>
        <p:spPr>
          <a:xfrm>
            <a:off x="685800" y="2148840"/>
            <a:ext cx="2194560" cy="1005840"/>
          </a:xfrm>
          <a:prstGeom prst="rect">
            <a:avLst/>
          </a:prstGeom>
          <a:noFill/>
          <a:ln/>
        </p:spPr>
        <p:txBody>
          <a:bodyPr wrap="square" lIns="0" tIns="0" rIns="0" bIns="0" rtlCol="0" anchor="t"/>
          <a:lstStyle/>
          <a:p>
            <a:pPr marL="0" indent="0">
              <a:buNone/>
            </a:pPr>
            <a:r>
              <a:rPr lang="en-US" sz="1400" dirty="0">
                <a:solidFill>
                  <a:srgbClr val="0B2E33"/>
                </a:solidFill>
                <a:latin typeface="Calibri" pitchFamily="34" charset="0"/>
                <a:ea typeface="Calibri" pitchFamily="34" charset="-122"/>
                <a:cs typeface="Calibri" pitchFamily="34" charset="-120"/>
              </a:rPr>
              <a:t>Classify whether a customer takes up the offer on a cold call, so the right people are called.</a:t>
            </a:r>
            <a:endParaRPr lang="en-US" sz="1400" dirty="0"/>
          </a:p>
        </p:txBody>
      </p:sp>
      <p:sp>
        <p:nvSpPr>
          <p:cNvPr id="9" name="Text 6"/>
          <p:cNvSpPr txBox="1"/>
          <p:nvPr/>
        </p:nvSpPr>
        <p:spPr>
          <a:xfrm>
            <a:off x="685800" y="3291840"/>
            <a:ext cx="2194560" cy="82296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17 key questions on data, features, modelling and cut-off</a:t>
            </a:r>
            <a:endParaRPr lang="en-US" sz="1300" dirty="0"/>
          </a:p>
        </p:txBody>
      </p:sp>
      <p:sp>
        <p:nvSpPr>
          <p:cNvPr id="10" name="card"/>
          <p:cNvSpPr/>
          <p:nvPr/>
        </p:nvSpPr>
        <p:spPr>
          <a:xfrm>
            <a:off x="3291840" y="1463040"/>
            <a:ext cx="2651760" cy="2834640"/>
          </a:xfrm>
          <a:prstGeom prst="roundRect">
            <a:avLst>
              <a:gd name="adj" fmla="val 2759"/>
            </a:avLst>
          </a:prstGeom>
          <a:solidFill>
            <a:srgbClr val="E8F7F6"/>
          </a:solidFill>
          <a:ln w="12700">
            <a:solidFill>
              <a:srgbClr val="E8F7F6"/>
            </a:solidFill>
            <a:prstDash val="solid"/>
          </a:ln>
        </p:spPr>
        <p:txBody>
          <a:bodyPr/>
          <a:lstStyle/>
          <a:p>
            <a:endParaRPr lang="en-PH"/>
          </a:p>
        </p:txBody>
      </p:sp>
      <p:sp>
        <p:nvSpPr>
          <p:cNvPr id="11" name="Text 8"/>
          <p:cNvSpPr txBox="1"/>
          <p:nvPr/>
        </p:nvSpPr>
        <p:spPr>
          <a:xfrm>
            <a:off x="3520440" y="1645920"/>
            <a:ext cx="2194560" cy="365760"/>
          </a:xfrm>
          <a:prstGeom prst="rect">
            <a:avLst/>
          </a:prstGeom>
          <a:noFill/>
          <a:ln/>
        </p:spPr>
        <p:txBody>
          <a:bodyPr wrap="square" lIns="0" tIns="0" rIns="0" bIns="0" rtlCol="0" anchor="t"/>
          <a:lstStyle/>
          <a:p>
            <a:pPr marL="0" indent="0">
              <a:buNone/>
            </a:pPr>
            <a:r>
              <a:rPr lang="en-US" sz="2000" b="1" dirty="0">
                <a:solidFill>
                  <a:srgbClr val="0B2E33"/>
                </a:solidFill>
                <a:latin typeface="Calibri" pitchFamily="34" charset="0"/>
                <a:ea typeface="Calibri" pitchFamily="34" charset="-122"/>
                <a:cs typeface="Calibri" pitchFamily="34" charset="-120"/>
              </a:rPr>
              <a:t>Secondary</a:t>
            </a:r>
            <a:endParaRPr lang="en-US" sz="2000" dirty="0"/>
          </a:p>
        </p:txBody>
      </p:sp>
      <p:sp>
        <p:nvSpPr>
          <p:cNvPr id="12" name="Text 9"/>
          <p:cNvSpPr txBox="1"/>
          <p:nvPr/>
        </p:nvSpPr>
        <p:spPr>
          <a:xfrm>
            <a:off x="3520440" y="2148840"/>
            <a:ext cx="2194560" cy="1005840"/>
          </a:xfrm>
          <a:prstGeom prst="rect">
            <a:avLst/>
          </a:prstGeom>
          <a:noFill/>
          <a:ln/>
        </p:spPr>
        <p:txBody>
          <a:bodyPr wrap="square" lIns="0" tIns="0" rIns="0" bIns="0" rtlCol="0" anchor="t"/>
          <a:lstStyle/>
          <a:p>
            <a:pPr marL="0" indent="0">
              <a:buNone/>
            </a:pPr>
            <a:r>
              <a:rPr lang="en-US" sz="1400" dirty="0">
                <a:solidFill>
                  <a:srgbClr val="0B2E33"/>
                </a:solidFill>
                <a:latin typeface="Calibri" pitchFamily="34" charset="0"/>
                <a:ea typeface="Calibri" pitchFamily="34" charset="-122"/>
                <a:cs typeface="Calibri" pitchFamily="34" charset="-120"/>
              </a:rPr>
              <a:t>Overlay revenue and cost on the outcomes to estimate campaign profit.</a:t>
            </a:r>
            <a:endParaRPr lang="en-US" sz="1400" dirty="0"/>
          </a:p>
        </p:txBody>
      </p:sp>
      <p:sp>
        <p:nvSpPr>
          <p:cNvPr id="13" name="Text 10"/>
          <p:cNvSpPr txBox="1"/>
          <p:nvPr/>
        </p:nvSpPr>
        <p:spPr>
          <a:xfrm>
            <a:off x="3520440" y="3291840"/>
            <a:ext cx="2194560" cy="82296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Finance risk-band table: sale pays 285 / 705 / 1,225; a failed call costs 300</a:t>
            </a:r>
            <a:endParaRPr lang="en-US" sz="1300" dirty="0"/>
          </a:p>
        </p:txBody>
      </p:sp>
      <p:sp>
        <p:nvSpPr>
          <p:cNvPr id="14" name="card"/>
          <p:cNvSpPr/>
          <p:nvPr/>
        </p:nvSpPr>
        <p:spPr>
          <a:xfrm>
            <a:off x="6126480" y="1463040"/>
            <a:ext cx="2651760" cy="2834640"/>
          </a:xfrm>
          <a:prstGeom prst="roundRect">
            <a:avLst>
              <a:gd name="adj" fmla="val 2759"/>
            </a:avLst>
          </a:prstGeom>
          <a:solidFill>
            <a:srgbClr val="E8F7F6"/>
          </a:solidFill>
          <a:ln w="12700">
            <a:solidFill>
              <a:srgbClr val="E8F7F6"/>
            </a:solidFill>
            <a:prstDash val="solid"/>
          </a:ln>
        </p:spPr>
        <p:txBody>
          <a:bodyPr/>
          <a:lstStyle/>
          <a:p>
            <a:endParaRPr lang="en-PH"/>
          </a:p>
        </p:txBody>
      </p:sp>
      <p:sp>
        <p:nvSpPr>
          <p:cNvPr id="15" name="Text 12"/>
          <p:cNvSpPr txBox="1"/>
          <p:nvPr/>
        </p:nvSpPr>
        <p:spPr>
          <a:xfrm>
            <a:off x="6355080" y="1645920"/>
            <a:ext cx="2194560" cy="365760"/>
          </a:xfrm>
          <a:prstGeom prst="rect">
            <a:avLst/>
          </a:prstGeom>
          <a:noFill/>
          <a:ln/>
        </p:spPr>
        <p:txBody>
          <a:bodyPr wrap="square" lIns="0" tIns="0" rIns="0" bIns="0" rtlCol="0" anchor="t"/>
          <a:lstStyle/>
          <a:p>
            <a:pPr marL="0" indent="0">
              <a:buNone/>
            </a:pPr>
            <a:r>
              <a:rPr lang="en-US" sz="2000" b="1" dirty="0">
                <a:solidFill>
                  <a:srgbClr val="008C83"/>
                </a:solidFill>
                <a:latin typeface="Calibri" pitchFamily="34" charset="0"/>
                <a:ea typeface="Calibri" pitchFamily="34" charset="-122"/>
                <a:cs typeface="Calibri" pitchFamily="34" charset="-120"/>
              </a:rPr>
              <a:t>Bonus</a:t>
            </a:r>
            <a:endParaRPr lang="en-US" sz="2000" dirty="0"/>
          </a:p>
        </p:txBody>
      </p:sp>
      <p:sp>
        <p:nvSpPr>
          <p:cNvPr id="16" name="Text 13"/>
          <p:cNvSpPr txBox="1"/>
          <p:nvPr/>
        </p:nvSpPr>
        <p:spPr>
          <a:xfrm>
            <a:off x="6355080" y="2148840"/>
            <a:ext cx="2194560" cy="1005840"/>
          </a:xfrm>
          <a:prstGeom prst="rect">
            <a:avLst/>
          </a:prstGeom>
          <a:noFill/>
          <a:ln/>
        </p:spPr>
        <p:txBody>
          <a:bodyPr wrap="square" lIns="0" tIns="0" rIns="0" bIns="0" rtlCol="0" anchor="t"/>
          <a:lstStyle/>
          <a:p>
            <a:pPr marL="0" indent="0">
              <a:buNone/>
            </a:pPr>
            <a:r>
              <a:rPr lang="en-US" sz="1400" dirty="0">
                <a:solidFill>
                  <a:srgbClr val="0B2E33"/>
                </a:solidFill>
                <a:latin typeface="Calibri" pitchFamily="34" charset="0"/>
                <a:ea typeface="Calibri" pitchFamily="34" charset="-122"/>
                <a:cs typeface="Calibri" pitchFamily="34" charset="-120"/>
              </a:rPr>
              <a:t>Apply the model to 10,000 customers.</a:t>
            </a:r>
            <a:endParaRPr lang="en-US" sz="1400" dirty="0"/>
          </a:p>
        </p:txBody>
      </p:sp>
      <p:sp>
        <p:nvSpPr>
          <p:cNvPr id="17" name="Text 14"/>
          <p:cNvSpPr txBox="1"/>
          <p:nvPr/>
        </p:nvSpPr>
        <p:spPr>
          <a:xfrm>
            <a:off x="6355080" y="3291840"/>
            <a:ext cx="2194560" cy="82296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(a) expected net profit  (b) profit lost to misclassification</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E"/>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256032"/>
            <a:ext cx="726948" cy="256032"/>
          </a:xfrm>
          <a:prstGeom prst="roundRect">
            <a:avLst>
              <a:gd name="adj" fmla="val 50000"/>
            </a:avLst>
          </a:prstGeom>
          <a:solidFill>
            <a:srgbClr val="00BFB3"/>
          </a:solidFill>
          <a:ln w="12700">
            <a:solidFill>
              <a:srgbClr val="00BFB3"/>
            </a:solidFill>
            <a:prstDash val="solid"/>
          </a:ln>
        </p:spPr>
        <p:txBody>
          <a:bodyPr/>
          <a:lstStyle/>
          <a:p>
            <a:endParaRPr lang="en-PH"/>
          </a:p>
        </p:txBody>
      </p:sp>
      <p:sp>
        <p:nvSpPr>
          <p:cNvPr id="3" name="Text 1"/>
          <p:cNvSpPr txBox="1"/>
          <p:nvPr/>
        </p:nvSpPr>
        <p:spPr>
          <a:xfrm>
            <a:off x="457200" y="256032"/>
            <a:ext cx="726948" cy="256032"/>
          </a:xfrm>
          <a:prstGeom prst="rect">
            <a:avLst/>
          </a:prstGeom>
          <a:noFill/>
          <a:ln/>
        </p:spPr>
        <p:txBody>
          <a:bodyPr wrap="square" lIns="0" tIns="0" rIns="0" bIns="0" rtlCol="0" anchor="ctr"/>
          <a:lstStyle/>
          <a:p>
            <a:pPr marL="0" indent="0" algn="ctr">
              <a:buNone/>
            </a:pPr>
            <a:r>
              <a:rPr lang="en-US" sz="1100" b="1" dirty="0">
                <a:solidFill>
                  <a:srgbClr val="0B2E33"/>
                </a:solidFill>
                <a:latin typeface="Calibri" pitchFamily="34" charset="0"/>
                <a:ea typeface="Calibri" pitchFamily="34" charset="-122"/>
                <a:cs typeface="Calibri" pitchFamily="34" charset="-120"/>
              </a:rPr>
              <a:t>Q1 · Q2</a:t>
            </a:r>
            <a:endParaRPr lang="en-US" sz="1100" dirty="0"/>
          </a:p>
        </p:txBody>
      </p:sp>
      <p:sp>
        <p:nvSpPr>
          <p:cNvPr id="4" name="Text 0"/>
          <p:cNvSpPr>
            <a:spLocks noGrp="1"/>
          </p:cNvSpPr>
          <p:nvPr>
            <p:ph type="title" idx="100" hasCustomPrompt="1"/>
          </p:nvPr>
        </p:nvSpPr>
        <p:spPr>
          <a:xfrm>
            <a:off x="457200" y="566928"/>
            <a:ext cx="8229600" cy="594360"/>
          </a:xfrm>
          <a:prstGeom prst="rect">
            <a:avLst/>
          </a:prstGeom>
          <a:noFill/>
          <a:ln/>
        </p:spPr>
        <p:txBody>
          <a:bodyPr wrap="square" lIns="0" tIns="0" rIns="0" bIns="0" rtlCol="0" anchor="t"/>
          <a:lstStyle/>
          <a:p>
            <a:pPr marL="0" indent="0" algn="l">
              <a:buNone/>
            </a:pPr>
            <a:r>
              <a:rPr lang="en-US" sz="2800" b="1" dirty="0">
                <a:solidFill>
                  <a:srgbClr val="0B2E33"/>
                </a:solidFill>
                <a:latin typeface="Calibri" pitchFamily="34" charset="0"/>
                <a:ea typeface="Calibri" pitchFamily="34" charset="-122"/>
                <a:cs typeface="Calibri" pitchFamily="34" charset="-120"/>
              </a:rPr>
              <a:t>The data is clean, but not every input is usable</a:t>
            </a:r>
            <a:endParaRPr lang="en-US" sz="2800" dirty="0"/>
          </a:p>
        </p:txBody>
      </p:sp>
      <p:sp>
        <p:nvSpPr>
          <p:cNvPr id="6" name="Text 3"/>
          <p:cNvSpPr txBox="1"/>
          <p:nvPr/>
        </p:nvSpPr>
        <p:spPr>
          <a:xfrm>
            <a:off x="457200" y="1417320"/>
            <a:ext cx="2011680" cy="640080"/>
          </a:xfrm>
          <a:prstGeom prst="rect">
            <a:avLst/>
          </a:prstGeom>
          <a:noFill/>
          <a:ln/>
        </p:spPr>
        <p:txBody>
          <a:bodyPr wrap="square" lIns="0" tIns="0" rIns="0" bIns="0" rtlCol="0" anchor="t"/>
          <a:lstStyle/>
          <a:p>
            <a:pPr marL="0" indent="0">
              <a:buNone/>
            </a:pPr>
            <a:r>
              <a:rPr lang="en-US" sz="4000" b="1" dirty="0">
                <a:solidFill>
                  <a:srgbClr val="0B2E33"/>
                </a:solidFill>
                <a:latin typeface="Calibri" pitchFamily="34" charset="0"/>
                <a:ea typeface="Calibri" pitchFamily="34" charset="-122"/>
                <a:cs typeface="Calibri" pitchFamily="34" charset="-120"/>
              </a:rPr>
              <a:t>35,000</a:t>
            </a:r>
            <a:endParaRPr lang="en-US" sz="4000" dirty="0"/>
          </a:p>
        </p:txBody>
      </p:sp>
      <p:sp>
        <p:nvSpPr>
          <p:cNvPr id="7" name="Text 4"/>
          <p:cNvSpPr txBox="1"/>
          <p:nvPr/>
        </p:nvSpPr>
        <p:spPr>
          <a:xfrm>
            <a:off x="457200" y="2075688"/>
            <a:ext cx="2011680" cy="45720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rows, 20 inputs, no missing values (raw data)</a:t>
            </a:r>
            <a:endParaRPr lang="en-US" sz="1300" dirty="0"/>
          </a:p>
        </p:txBody>
      </p:sp>
      <p:sp>
        <p:nvSpPr>
          <p:cNvPr id="8" name="Text 5"/>
          <p:cNvSpPr txBox="1"/>
          <p:nvPr/>
        </p:nvSpPr>
        <p:spPr>
          <a:xfrm>
            <a:off x="457200" y="2697480"/>
            <a:ext cx="2011680" cy="640080"/>
          </a:xfrm>
          <a:prstGeom prst="rect">
            <a:avLst/>
          </a:prstGeom>
          <a:noFill/>
          <a:ln/>
        </p:spPr>
        <p:txBody>
          <a:bodyPr wrap="square" lIns="0" tIns="0" rIns="0" bIns="0" rtlCol="0" anchor="t"/>
          <a:lstStyle/>
          <a:p>
            <a:pPr marL="0" indent="0">
              <a:buNone/>
            </a:pPr>
            <a:r>
              <a:rPr lang="en-US" sz="4000" b="1" dirty="0">
                <a:solidFill>
                  <a:srgbClr val="0B2E33"/>
                </a:solidFill>
                <a:latin typeface="Calibri" pitchFamily="34" charset="0"/>
                <a:ea typeface="Calibri" pitchFamily="34" charset="-122"/>
                <a:cs typeface="Calibri" pitchFamily="34" charset="-120"/>
              </a:rPr>
              <a:t>11.2%</a:t>
            </a:r>
            <a:endParaRPr lang="en-US" sz="4000" dirty="0"/>
          </a:p>
        </p:txBody>
      </p:sp>
      <p:sp>
        <p:nvSpPr>
          <p:cNvPr id="9" name="Text 6"/>
          <p:cNvSpPr txBox="1"/>
          <p:nvPr/>
        </p:nvSpPr>
        <p:spPr>
          <a:xfrm>
            <a:off x="457200" y="3355848"/>
            <a:ext cx="2011680" cy="45720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said yes, so always-no scores 88.8%</a:t>
            </a:r>
            <a:endParaRPr lang="en-US" sz="1300" dirty="0"/>
          </a:p>
        </p:txBody>
      </p:sp>
      <p:sp>
        <p:nvSpPr>
          <p:cNvPr id="10" name="card"/>
          <p:cNvSpPr/>
          <p:nvPr/>
        </p:nvSpPr>
        <p:spPr>
          <a:xfrm>
            <a:off x="2834640" y="1371600"/>
            <a:ext cx="5852160" cy="3246120"/>
          </a:xfrm>
          <a:prstGeom prst="roundRect">
            <a:avLst>
              <a:gd name="adj" fmla="val 2254"/>
            </a:avLst>
          </a:prstGeom>
          <a:solidFill>
            <a:srgbClr val="E8F7F6"/>
          </a:solidFill>
          <a:ln w="12700">
            <a:solidFill>
              <a:srgbClr val="E8F7F6"/>
            </a:solidFill>
            <a:prstDash val="solid"/>
          </a:ln>
        </p:spPr>
        <p:txBody>
          <a:bodyPr/>
          <a:lstStyle/>
          <a:p>
            <a:endParaRPr lang="en-PH"/>
          </a:p>
        </p:txBody>
      </p:sp>
      <p:sp>
        <p:nvSpPr>
          <p:cNvPr id="11" name="Text 8"/>
          <p:cNvSpPr txBox="1"/>
          <p:nvPr/>
        </p:nvSpPr>
        <p:spPr>
          <a:xfrm>
            <a:off x="3108960" y="1508760"/>
            <a:ext cx="5303520" cy="320040"/>
          </a:xfrm>
          <a:prstGeom prst="rect">
            <a:avLst/>
          </a:prstGeom>
          <a:noFill/>
          <a:ln/>
        </p:spPr>
        <p:txBody>
          <a:bodyPr wrap="square" lIns="0" tIns="0" rIns="0" bIns="0" rtlCol="0" anchor="t"/>
          <a:lstStyle/>
          <a:p>
            <a:pPr marL="0" indent="0">
              <a:buNone/>
            </a:pPr>
            <a:r>
              <a:rPr lang="en-US" sz="1800" b="1" dirty="0">
                <a:solidFill>
                  <a:srgbClr val="0B2E33"/>
                </a:solidFill>
                <a:latin typeface="Calibri" pitchFamily="34" charset="0"/>
                <a:ea typeface="Calibri" pitchFamily="34" charset="-122"/>
                <a:cs typeface="Calibri" pitchFamily="34" charset="-120"/>
              </a:rPr>
              <a:t>What we fixed</a:t>
            </a:r>
            <a:endParaRPr lang="en-US" sz="1800" dirty="0"/>
          </a:p>
        </p:txBody>
      </p:sp>
      <p:sp>
        <p:nvSpPr>
          <p:cNvPr id="12" name="Text 9"/>
          <p:cNvSpPr txBox="1"/>
          <p:nvPr/>
        </p:nvSpPr>
        <p:spPr>
          <a:xfrm>
            <a:off x="3108960" y="1920240"/>
            <a:ext cx="530352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B2E33"/>
                </a:solidFill>
                <a:latin typeface="Calibri" pitchFamily="34" charset="0"/>
                <a:ea typeface="Calibri" pitchFamily="34" charset="-122"/>
                <a:cs typeface="Calibri" pitchFamily="34" charset="-120"/>
              </a:rPr>
              <a:t>11 duplicate rows removed</a:t>
            </a:r>
            <a:endParaRPr lang="en-US" sz="1400" dirty="0"/>
          </a:p>
          <a:p>
            <a:pPr marL="342900" indent="-342900">
              <a:spcAft>
                <a:spcPts val="600"/>
              </a:spcAft>
              <a:buSzPct val="100000"/>
              <a:buChar char="•"/>
            </a:pPr>
            <a:r>
              <a:rPr lang="en-US" sz="1400" dirty="0">
                <a:solidFill>
                  <a:srgbClr val="0B2E33"/>
                </a:solidFill>
                <a:latin typeface="Calibri" pitchFamily="34" charset="0"/>
                <a:ea typeface="Calibri" pitchFamily="34" charset="-122"/>
                <a:cs typeface="Calibri" pitchFamily="34" charset="-120"/>
              </a:rPr>
              <a:t>999 in days since last campaign (96%) means never contacted, so it becomes a flag</a:t>
            </a:r>
            <a:endParaRPr lang="en-US" sz="1400" dirty="0"/>
          </a:p>
          <a:p>
            <a:pPr marL="342900" indent="-342900">
              <a:spcAft>
                <a:spcPts val="600"/>
              </a:spcAft>
              <a:buSzPct val="100000"/>
              <a:buChar char="•"/>
            </a:pPr>
            <a:r>
              <a:rPr lang="en-US" sz="1400" dirty="0">
                <a:solidFill>
                  <a:srgbClr val="0B2E33"/>
                </a:solidFill>
                <a:latin typeface="Calibri" pitchFamily="34" charset="0"/>
                <a:ea typeface="Calibri" pitchFamily="34" charset="-122"/>
                <a:cs typeface="Calibri" pitchFamily="34" charset="-120"/>
              </a:rPr>
              <a:t>Call attempts capped at 10</a:t>
            </a:r>
            <a:endParaRPr lang="en-US" sz="1400" dirty="0"/>
          </a:p>
          <a:p>
            <a:pPr marL="342900" indent="-342900">
              <a:spcAft>
                <a:spcPts val="600"/>
              </a:spcAft>
              <a:buSzPct val="100000"/>
              <a:buChar char="•"/>
            </a:pPr>
            <a:r>
              <a:rPr lang="en-US" sz="1400" dirty="0">
                <a:solidFill>
                  <a:srgbClr val="0B2E33"/>
                </a:solidFill>
                <a:latin typeface="Calibri" pitchFamily="34" charset="0"/>
                <a:ea typeface="Calibri" pitchFamily="34" charset="-122"/>
                <a:cs typeface="Calibri" pitchFamily="34" charset="-120"/>
              </a:rPr>
              <a:t>Categories under 1% pooled into "other"</a:t>
            </a:r>
            <a:endParaRPr lang="en-US" sz="1400" dirty="0"/>
          </a:p>
        </p:txBody>
      </p:sp>
      <p:sp>
        <p:nvSpPr>
          <p:cNvPr id="13" name="Text 10"/>
          <p:cNvSpPr txBox="1"/>
          <p:nvPr/>
        </p:nvSpPr>
        <p:spPr>
          <a:xfrm>
            <a:off x="3108960" y="3337560"/>
            <a:ext cx="5303520" cy="320040"/>
          </a:xfrm>
          <a:prstGeom prst="rect">
            <a:avLst/>
          </a:prstGeom>
          <a:noFill/>
          <a:ln/>
        </p:spPr>
        <p:txBody>
          <a:bodyPr wrap="square" lIns="0" tIns="0" rIns="0" bIns="0" rtlCol="0" anchor="t"/>
          <a:lstStyle/>
          <a:p>
            <a:pPr marL="0" indent="0">
              <a:buNone/>
            </a:pPr>
            <a:r>
              <a:rPr lang="en-US" sz="1800" b="1" dirty="0">
                <a:solidFill>
                  <a:srgbClr val="0B2E33"/>
                </a:solidFill>
                <a:latin typeface="Calibri" pitchFamily="34" charset="0"/>
                <a:ea typeface="Calibri" pitchFamily="34" charset="-122"/>
                <a:cs typeface="Calibri" pitchFamily="34" charset="-120"/>
              </a:rPr>
              <a:t>What we dropped</a:t>
            </a:r>
            <a:endParaRPr lang="en-US" sz="1800" dirty="0"/>
          </a:p>
        </p:txBody>
      </p:sp>
      <p:sp>
        <p:nvSpPr>
          <p:cNvPr id="14" name="Text 11"/>
          <p:cNvSpPr txBox="1"/>
          <p:nvPr/>
        </p:nvSpPr>
        <p:spPr>
          <a:xfrm>
            <a:off x="3108960" y="3749040"/>
            <a:ext cx="5303520" cy="731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B2E33"/>
                </a:solidFill>
                <a:latin typeface="Calibri" pitchFamily="34" charset="0"/>
                <a:ea typeface="Calibri" pitchFamily="34" charset="-122"/>
                <a:cs typeface="Calibri" pitchFamily="34" charset="-120"/>
              </a:rPr>
              <a:t>Call duration: only known after the call</a:t>
            </a:r>
            <a:endParaRPr lang="en-US" sz="1400" dirty="0"/>
          </a:p>
          <a:p>
            <a:pPr marL="342900" indent="-342900">
              <a:spcAft>
                <a:spcPts val="600"/>
              </a:spcAft>
              <a:buSzPct val="100000"/>
              <a:buChar char="•"/>
            </a:pPr>
            <a:r>
              <a:rPr lang="en-US" sz="1400" dirty="0">
                <a:solidFill>
                  <a:srgbClr val="0B2E33"/>
                </a:solidFill>
                <a:latin typeface="Calibri" pitchFamily="34" charset="0"/>
                <a:ea typeface="Calibri" pitchFamily="34" charset="-122"/>
                <a:cs typeface="Calibri" pitchFamily="34" charset="-120"/>
              </a:rPr>
              <a:t>Home loan, personal loan, weekday: no signal (IV ≈ 0)</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E"/>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256032"/>
            <a:ext cx="338328" cy="256032"/>
          </a:xfrm>
          <a:prstGeom prst="roundRect">
            <a:avLst>
              <a:gd name="adj" fmla="val 50000"/>
            </a:avLst>
          </a:prstGeom>
          <a:solidFill>
            <a:srgbClr val="00BFB3"/>
          </a:solidFill>
          <a:ln w="12700">
            <a:solidFill>
              <a:srgbClr val="00BFB3"/>
            </a:solidFill>
            <a:prstDash val="solid"/>
          </a:ln>
        </p:spPr>
        <p:txBody>
          <a:bodyPr/>
          <a:lstStyle/>
          <a:p>
            <a:endParaRPr lang="en-PH"/>
          </a:p>
        </p:txBody>
      </p:sp>
      <p:sp>
        <p:nvSpPr>
          <p:cNvPr id="3" name="Text 1"/>
          <p:cNvSpPr txBox="1"/>
          <p:nvPr/>
        </p:nvSpPr>
        <p:spPr>
          <a:xfrm>
            <a:off x="457200" y="256032"/>
            <a:ext cx="338328" cy="256032"/>
          </a:xfrm>
          <a:prstGeom prst="rect">
            <a:avLst/>
          </a:prstGeom>
          <a:noFill/>
          <a:ln/>
        </p:spPr>
        <p:txBody>
          <a:bodyPr wrap="square" lIns="0" tIns="0" rIns="0" bIns="0" rtlCol="0" anchor="ctr"/>
          <a:lstStyle/>
          <a:p>
            <a:pPr marL="0" indent="0" algn="ctr">
              <a:buNone/>
            </a:pPr>
            <a:r>
              <a:rPr lang="en-US" sz="1100" b="1" dirty="0">
                <a:solidFill>
                  <a:srgbClr val="0B2E33"/>
                </a:solidFill>
                <a:latin typeface="Calibri" pitchFamily="34" charset="0"/>
                <a:ea typeface="Calibri" pitchFamily="34" charset="-122"/>
                <a:cs typeface="Calibri" pitchFamily="34" charset="-120"/>
              </a:rPr>
              <a:t>Q1</a:t>
            </a:r>
            <a:endParaRPr lang="en-US" sz="1100" dirty="0"/>
          </a:p>
        </p:txBody>
      </p:sp>
      <p:sp>
        <p:nvSpPr>
          <p:cNvPr id="4" name="Text 0"/>
          <p:cNvSpPr>
            <a:spLocks noGrp="1"/>
          </p:cNvSpPr>
          <p:nvPr>
            <p:ph type="title" idx="100" hasCustomPrompt="1"/>
          </p:nvPr>
        </p:nvSpPr>
        <p:spPr>
          <a:xfrm>
            <a:off x="457200" y="566928"/>
            <a:ext cx="8229600" cy="594360"/>
          </a:xfrm>
          <a:prstGeom prst="rect">
            <a:avLst/>
          </a:prstGeom>
          <a:noFill/>
          <a:ln/>
        </p:spPr>
        <p:txBody>
          <a:bodyPr wrap="square" lIns="0" tIns="0" rIns="0" bIns="0" rtlCol="0" anchor="t"/>
          <a:lstStyle/>
          <a:p>
            <a:pPr marL="0" indent="0" algn="l">
              <a:buNone/>
            </a:pPr>
            <a:r>
              <a:rPr lang="en-US" sz="2800" b="1" dirty="0">
                <a:solidFill>
                  <a:srgbClr val="0B2E33"/>
                </a:solidFill>
                <a:latin typeface="Calibri" pitchFamily="34" charset="0"/>
                <a:ea typeface="Calibri" pitchFamily="34" charset="-122"/>
                <a:cs typeface="Calibri" pitchFamily="34" charset="-120"/>
              </a:rPr>
              <a:t>Call duration looks brilliant, but it cannot be used</a:t>
            </a:r>
            <a:endParaRPr lang="en-US" sz="2800" dirty="0"/>
          </a:p>
        </p:txBody>
      </p:sp>
      <p:graphicFrame>
        <p:nvGraphicFramePr>
          <p:cNvPr id="6" name="Chart 0"/>
          <p:cNvGraphicFramePr/>
          <p:nvPr/>
        </p:nvGraphicFramePr>
        <p:xfrm>
          <a:off x="457200" y="1371600"/>
          <a:ext cx="3840480" cy="29260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nvGraphicFramePr>
        <p:xfrm>
          <a:off x="4572000" y="1371600"/>
          <a:ext cx="411480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3"/>
          <p:cNvSpPr txBox="1"/>
          <p:nvPr/>
        </p:nvSpPr>
        <p:spPr>
          <a:xfrm>
            <a:off x="457200" y="4389120"/>
            <a:ext cx="8229600" cy="320040"/>
          </a:xfrm>
          <a:prstGeom prst="rect">
            <a:avLst/>
          </a:prstGeom>
          <a:noFill/>
          <a:ln/>
        </p:spPr>
        <p:txBody>
          <a:bodyPr wrap="square" lIns="0" tIns="0" rIns="0" bIns="0" rtlCol="0" anchor="t"/>
          <a:lstStyle/>
          <a:p>
            <a:pPr marL="0" indent="0">
              <a:buNone/>
            </a:pPr>
            <a:r>
              <a:rPr lang="en-US" sz="1400" dirty="0">
                <a:solidFill>
                  <a:srgbClr val="5B6B6E"/>
                </a:solidFill>
                <a:latin typeface="Calibri" pitchFamily="34" charset="0"/>
                <a:ea typeface="Calibri" pitchFamily="34" charset="-122"/>
                <a:cs typeface="Calibri" pitchFamily="34" charset="-120"/>
              </a:rPr>
              <a:t>Leakage is about availability at decision time, not how strong the signal is.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E"/>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256032"/>
            <a:ext cx="726948" cy="256032"/>
          </a:xfrm>
          <a:prstGeom prst="roundRect">
            <a:avLst>
              <a:gd name="adj" fmla="val 50000"/>
            </a:avLst>
          </a:prstGeom>
          <a:solidFill>
            <a:srgbClr val="00BFB3"/>
          </a:solidFill>
          <a:ln w="12700">
            <a:solidFill>
              <a:srgbClr val="00BFB3"/>
            </a:solidFill>
            <a:prstDash val="solid"/>
          </a:ln>
        </p:spPr>
        <p:txBody>
          <a:bodyPr/>
          <a:lstStyle/>
          <a:p>
            <a:endParaRPr lang="en-PH"/>
          </a:p>
        </p:txBody>
      </p:sp>
      <p:sp>
        <p:nvSpPr>
          <p:cNvPr id="3" name="Text 1"/>
          <p:cNvSpPr txBox="1"/>
          <p:nvPr/>
        </p:nvSpPr>
        <p:spPr>
          <a:xfrm>
            <a:off x="457200" y="256032"/>
            <a:ext cx="726948" cy="256032"/>
          </a:xfrm>
          <a:prstGeom prst="rect">
            <a:avLst/>
          </a:prstGeom>
          <a:noFill/>
          <a:ln/>
        </p:spPr>
        <p:txBody>
          <a:bodyPr wrap="square" lIns="0" tIns="0" rIns="0" bIns="0" rtlCol="0" anchor="ctr"/>
          <a:lstStyle/>
          <a:p>
            <a:pPr marL="0" indent="0" algn="ctr">
              <a:buNone/>
            </a:pPr>
            <a:r>
              <a:rPr lang="en-US" sz="1100" b="1" dirty="0">
                <a:solidFill>
                  <a:srgbClr val="0B2E33"/>
                </a:solidFill>
                <a:latin typeface="Calibri" pitchFamily="34" charset="0"/>
                <a:ea typeface="Calibri" pitchFamily="34" charset="-122"/>
                <a:cs typeface="Calibri" pitchFamily="34" charset="-120"/>
              </a:rPr>
              <a:t>Q3 · Q4</a:t>
            </a:r>
            <a:endParaRPr lang="en-US" sz="1100" dirty="0"/>
          </a:p>
        </p:txBody>
      </p:sp>
      <p:sp>
        <p:nvSpPr>
          <p:cNvPr id="4" name="Text 0"/>
          <p:cNvSpPr>
            <a:spLocks noGrp="1"/>
          </p:cNvSpPr>
          <p:nvPr>
            <p:ph type="title" idx="100" hasCustomPrompt="1"/>
          </p:nvPr>
        </p:nvSpPr>
        <p:spPr>
          <a:xfrm>
            <a:off x="457200" y="566928"/>
            <a:ext cx="8229600" cy="594360"/>
          </a:xfrm>
          <a:prstGeom prst="rect">
            <a:avLst/>
          </a:prstGeom>
          <a:noFill/>
          <a:ln/>
        </p:spPr>
        <p:txBody>
          <a:bodyPr wrap="square" lIns="0" tIns="0" rIns="0" bIns="0" rtlCol="0" anchor="t"/>
          <a:lstStyle/>
          <a:p>
            <a:pPr marL="0" indent="0" algn="l">
              <a:buNone/>
            </a:pPr>
            <a:r>
              <a:rPr lang="en-US" sz="2800" b="1" dirty="0">
                <a:solidFill>
                  <a:srgbClr val="0B2E33"/>
                </a:solidFill>
                <a:latin typeface="Calibri" pitchFamily="34" charset="0"/>
                <a:ea typeface="Calibri" pitchFamily="34" charset="-122"/>
                <a:cs typeface="Calibri" pitchFamily="34" charset="-120"/>
              </a:rPr>
              <a:t>Rank inputs by IV, then drop near-duplicates</a:t>
            </a:r>
            <a:endParaRPr lang="en-US" sz="2800" dirty="0"/>
          </a:p>
        </p:txBody>
      </p:sp>
      <p:sp>
        <p:nvSpPr>
          <p:cNvPr id="6" name="card"/>
          <p:cNvSpPr/>
          <p:nvPr/>
        </p:nvSpPr>
        <p:spPr>
          <a:xfrm>
            <a:off x="457200" y="1371600"/>
            <a:ext cx="4023360" cy="3017520"/>
          </a:xfrm>
          <a:prstGeom prst="roundRect">
            <a:avLst>
              <a:gd name="adj" fmla="val 2424"/>
            </a:avLst>
          </a:prstGeom>
          <a:solidFill>
            <a:srgbClr val="E8F7F6"/>
          </a:solidFill>
          <a:ln w="12700">
            <a:solidFill>
              <a:srgbClr val="E8F7F6"/>
            </a:solidFill>
            <a:prstDash val="solid"/>
          </a:ln>
        </p:spPr>
        <p:txBody>
          <a:bodyPr/>
          <a:lstStyle/>
          <a:p>
            <a:endParaRPr lang="en-PH"/>
          </a:p>
        </p:txBody>
      </p:sp>
      <p:sp>
        <p:nvSpPr>
          <p:cNvPr id="7" name="Text 4"/>
          <p:cNvSpPr txBox="1"/>
          <p:nvPr/>
        </p:nvSpPr>
        <p:spPr>
          <a:xfrm>
            <a:off x="731520" y="1508760"/>
            <a:ext cx="3474720" cy="320040"/>
          </a:xfrm>
          <a:prstGeom prst="rect">
            <a:avLst/>
          </a:prstGeom>
          <a:noFill/>
          <a:ln/>
        </p:spPr>
        <p:txBody>
          <a:bodyPr wrap="square" lIns="0" tIns="0" rIns="0" bIns="0" rtlCol="0" anchor="t"/>
          <a:lstStyle/>
          <a:p>
            <a:pPr marL="0" indent="0">
              <a:buNone/>
            </a:pPr>
            <a:r>
              <a:rPr lang="en-US" sz="1800" b="1" dirty="0">
                <a:solidFill>
                  <a:srgbClr val="0B2E33"/>
                </a:solidFill>
                <a:latin typeface="Calibri" pitchFamily="34" charset="0"/>
                <a:ea typeface="Calibri" pitchFamily="34" charset="-122"/>
                <a:cs typeface="Calibri" pitchFamily="34" charset="-120"/>
              </a:rPr>
              <a:t>Discriminating power</a:t>
            </a:r>
            <a:endParaRPr lang="en-US" sz="1800" dirty="0"/>
          </a:p>
        </p:txBody>
      </p:sp>
      <p:sp>
        <p:nvSpPr>
          <p:cNvPr id="8" name="Text 5"/>
          <p:cNvSpPr txBox="1"/>
          <p:nvPr/>
        </p:nvSpPr>
        <p:spPr>
          <a:xfrm>
            <a:off x="731520" y="1965960"/>
            <a:ext cx="347472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B2E33"/>
                </a:solidFill>
                <a:latin typeface="Calibri" pitchFamily="34" charset="0"/>
                <a:ea typeface="Calibri" pitchFamily="34" charset="-122"/>
                <a:cs typeface="Calibri" pitchFamily="34" charset="-120"/>
              </a:rPr>
              <a:t>IV and univariate AUC on the training split only</a:t>
            </a:r>
            <a:endParaRPr lang="en-US" sz="1400" dirty="0"/>
          </a:p>
          <a:p>
            <a:pPr marL="342900" indent="-342900">
              <a:spcAft>
                <a:spcPts val="600"/>
              </a:spcAft>
              <a:buSzPct val="100000"/>
              <a:buChar char="•"/>
            </a:pPr>
            <a:r>
              <a:rPr lang="en-US" sz="1400" dirty="0">
                <a:solidFill>
                  <a:srgbClr val="0B2E33"/>
                </a:solidFill>
                <a:latin typeface="Calibri" pitchFamily="34" charset="0"/>
                <a:ea typeface="Calibri" pitchFamily="34" charset="-122"/>
                <a:cs typeface="Calibri" pitchFamily="34" charset="-120"/>
              </a:rPr>
              <a:t>Previous campaign outcome is strong (IV 0.54) and legitimate: it is known before the call</a:t>
            </a:r>
            <a:endParaRPr lang="en-US" sz="1400" dirty="0"/>
          </a:p>
          <a:p>
            <a:pPr marL="342900" indent="-342900">
              <a:spcAft>
                <a:spcPts val="600"/>
              </a:spcAft>
              <a:buSzPct val="100000"/>
              <a:buChar char="•"/>
            </a:pPr>
            <a:r>
              <a:rPr lang="en-US" sz="1400" dirty="0">
                <a:solidFill>
                  <a:srgbClr val="0B2E33"/>
                </a:solidFill>
                <a:latin typeface="Calibri" pitchFamily="34" charset="0"/>
                <a:ea typeface="Calibri" pitchFamily="34" charset="-122"/>
                <a:cs typeface="Calibri" pitchFamily="34" charset="-120"/>
              </a:rPr>
              <a:t>Home loan, personal loan, weekday: IV ≈ 0</a:t>
            </a:r>
            <a:endParaRPr lang="en-US" sz="1400" dirty="0"/>
          </a:p>
        </p:txBody>
      </p:sp>
      <p:sp>
        <p:nvSpPr>
          <p:cNvPr id="9" name="card"/>
          <p:cNvSpPr/>
          <p:nvPr/>
        </p:nvSpPr>
        <p:spPr>
          <a:xfrm>
            <a:off x="4663440" y="1371600"/>
            <a:ext cx="4023360" cy="3017520"/>
          </a:xfrm>
          <a:prstGeom prst="roundRect">
            <a:avLst>
              <a:gd name="adj" fmla="val 2424"/>
            </a:avLst>
          </a:prstGeom>
          <a:solidFill>
            <a:srgbClr val="E8F7F6"/>
          </a:solidFill>
          <a:ln w="12700">
            <a:solidFill>
              <a:srgbClr val="E8F7F6"/>
            </a:solidFill>
            <a:prstDash val="solid"/>
          </a:ln>
        </p:spPr>
        <p:txBody>
          <a:bodyPr/>
          <a:lstStyle/>
          <a:p>
            <a:endParaRPr lang="en-PH"/>
          </a:p>
        </p:txBody>
      </p:sp>
      <p:sp>
        <p:nvSpPr>
          <p:cNvPr id="10" name="Text 7"/>
          <p:cNvSpPr txBox="1"/>
          <p:nvPr/>
        </p:nvSpPr>
        <p:spPr>
          <a:xfrm>
            <a:off x="4937760" y="1508760"/>
            <a:ext cx="3474720" cy="320040"/>
          </a:xfrm>
          <a:prstGeom prst="rect">
            <a:avLst/>
          </a:prstGeom>
          <a:noFill/>
          <a:ln/>
        </p:spPr>
        <p:txBody>
          <a:bodyPr wrap="square" lIns="0" tIns="0" rIns="0" bIns="0" rtlCol="0" anchor="t"/>
          <a:lstStyle/>
          <a:p>
            <a:pPr marL="0" indent="0">
              <a:buNone/>
            </a:pPr>
            <a:r>
              <a:rPr lang="en-US" sz="1800" b="1" dirty="0">
                <a:solidFill>
                  <a:srgbClr val="0B2E33"/>
                </a:solidFill>
                <a:latin typeface="Calibri" pitchFamily="34" charset="0"/>
                <a:ea typeface="Calibri" pitchFamily="34" charset="-122"/>
                <a:cs typeface="Calibri" pitchFamily="34" charset="-120"/>
              </a:rPr>
              <a:t>Correlated macro variables</a:t>
            </a:r>
            <a:endParaRPr lang="en-US" sz="1800" dirty="0"/>
          </a:p>
        </p:txBody>
      </p:sp>
      <p:sp>
        <p:nvSpPr>
          <p:cNvPr id="11" name="Text 8"/>
          <p:cNvSpPr txBox="1"/>
          <p:nvPr/>
        </p:nvSpPr>
        <p:spPr>
          <a:xfrm>
            <a:off x="4937760" y="2011680"/>
            <a:ext cx="1737360" cy="640080"/>
          </a:xfrm>
          <a:prstGeom prst="rect">
            <a:avLst/>
          </a:prstGeom>
          <a:noFill/>
          <a:ln/>
        </p:spPr>
        <p:txBody>
          <a:bodyPr wrap="square" lIns="0" tIns="0" rIns="0" bIns="0" rtlCol="0" anchor="t"/>
          <a:lstStyle/>
          <a:p>
            <a:pPr marL="0" indent="0">
              <a:buNone/>
            </a:pPr>
            <a:r>
              <a:rPr lang="en-US" sz="3600" b="1" dirty="0">
                <a:solidFill>
                  <a:srgbClr val="E8604C"/>
                </a:solidFill>
                <a:latin typeface="Calibri" pitchFamily="34" charset="0"/>
                <a:ea typeface="Calibri" pitchFamily="34" charset="-122"/>
                <a:cs typeface="Calibri" pitchFamily="34" charset="-120"/>
              </a:rPr>
              <a:t>32–64</a:t>
            </a:r>
            <a:endParaRPr lang="en-US" sz="3600" dirty="0"/>
          </a:p>
        </p:txBody>
      </p:sp>
      <p:sp>
        <p:nvSpPr>
          <p:cNvPr id="12" name="Text 9"/>
          <p:cNvSpPr txBox="1"/>
          <p:nvPr/>
        </p:nvSpPr>
        <p:spPr>
          <a:xfrm>
            <a:off x="4937760" y="2651760"/>
            <a:ext cx="1737360" cy="36576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VIF with all three</a:t>
            </a:r>
            <a:endParaRPr lang="en-US" sz="1300" dirty="0"/>
          </a:p>
        </p:txBody>
      </p:sp>
      <p:sp>
        <p:nvSpPr>
          <p:cNvPr id="13" name="Text 10"/>
          <p:cNvSpPr txBox="1"/>
          <p:nvPr/>
        </p:nvSpPr>
        <p:spPr>
          <a:xfrm>
            <a:off x="6858000" y="2011680"/>
            <a:ext cx="1554480" cy="640080"/>
          </a:xfrm>
          <a:prstGeom prst="rect">
            <a:avLst/>
          </a:prstGeom>
          <a:noFill/>
          <a:ln/>
        </p:spPr>
        <p:txBody>
          <a:bodyPr wrap="square" lIns="0" tIns="0" rIns="0" bIns="0" rtlCol="0" anchor="t"/>
          <a:lstStyle/>
          <a:p>
            <a:pPr marL="0" indent="0">
              <a:buNone/>
            </a:pPr>
            <a:r>
              <a:rPr lang="en-US" sz="3600" b="1" dirty="0">
                <a:solidFill>
                  <a:srgbClr val="008C83"/>
                </a:solidFill>
                <a:latin typeface="Calibri" pitchFamily="34" charset="0"/>
                <a:ea typeface="Calibri" pitchFamily="34" charset="-122"/>
                <a:cs typeface="Calibri" pitchFamily="34" charset="-120"/>
              </a:rPr>
              <a:t>≈ 3</a:t>
            </a:r>
            <a:endParaRPr lang="en-US" sz="3600" dirty="0"/>
          </a:p>
        </p:txBody>
      </p:sp>
      <p:sp>
        <p:nvSpPr>
          <p:cNvPr id="14" name="Text 11"/>
          <p:cNvSpPr txBox="1"/>
          <p:nvPr/>
        </p:nvSpPr>
        <p:spPr>
          <a:xfrm>
            <a:off x="6858000" y="2651760"/>
            <a:ext cx="1554480" cy="36576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VIF keeping one</a:t>
            </a:r>
            <a:endParaRPr lang="en-US" sz="1300" dirty="0"/>
          </a:p>
        </p:txBody>
      </p:sp>
      <p:sp>
        <p:nvSpPr>
          <p:cNvPr id="15" name="Text 12"/>
          <p:cNvSpPr txBox="1"/>
          <p:nvPr/>
        </p:nvSpPr>
        <p:spPr>
          <a:xfrm>
            <a:off x="4937760" y="3200400"/>
            <a:ext cx="3474720" cy="1005840"/>
          </a:xfrm>
          <a:prstGeom prst="rect">
            <a:avLst/>
          </a:prstGeom>
          <a:noFill/>
          <a:ln/>
        </p:spPr>
        <p:txBody>
          <a:bodyPr wrap="square" lIns="0" tIns="0" rIns="0" bIns="0" rtlCol="0" anchor="t"/>
          <a:lstStyle/>
          <a:p>
            <a:pPr marL="0" indent="0">
              <a:buNone/>
            </a:pPr>
            <a:r>
              <a:rPr lang="en-US" sz="1400" dirty="0">
                <a:solidFill>
                  <a:srgbClr val="0B2E33"/>
                </a:solidFill>
                <a:latin typeface="Calibri" pitchFamily="34" charset="0"/>
                <a:ea typeface="Calibri" pitchFamily="34" charset="-122"/>
                <a:cs typeface="Calibri" pitchFamily="34" charset="-120"/>
              </a:rPr>
              <a:t>Employment variation rate is retained because the macro variables are highly correlated, not because cross-validation proved it uniquely superior. </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E"/>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256032"/>
            <a:ext cx="804672" cy="256032"/>
          </a:xfrm>
          <a:prstGeom prst="roundRect">
            <a:avLst>
              <a:gd name="adj" fmla="val 50000"/>
            </a:avLst>
          </a:prstGeom>
          <a:solidFill>
            <a:srgbClr val="00BFB3"/>
          </a:solidFill>
          <a:ln w="12700">
            <a:solidFill>
              <a:srgbClr val="00BFB3"/>
            </a:solidFill>
            <a:prstDash val="solid"/>
          </a:ln>
        </p:spPr>
        <p:txBody>
          <a:bodyPr/>
          <a:lstStyle/>
          <a:p>
            <a:endParaRPr lang="en-PH"/>
          </a:p>
        </p:txBody>
      </p:sp>
      <p:sp>
        <p:nvSpPr>
          <p:cNvPr id="3" name="Text 1"/>
          <p:cNvSpPr txBox="1"/>
          <p:nvPr/>
        </p:nvSpPr>
        <p:spPr>
          <a:xfrm>
            <a:off x="457200" y="256032"/>
            <a:ext cx="804672" cy="256032"/>
          </a:xfrm>
          <a:prstGeom prst="rect">
            <a:avLst/>
          </a:prstGeom>
          <a:noFill/>
          <a:ln/>
        </p:spPr>
        <p:txBody>
          <a:bodyPr wrap="square" lIns="0" tIns="0" rIns="0" bIns="0" rtlCol="0" anchor="ctr"/>
          <a:lstStyle/>
          <a:p>
            <a:pPr marL="0" indent="0" algn="ctr">
              <a:buNone/>
            </a:pPr>
            <a:r>
              <a:rPr lang="en-US" sz="1100" b="1" dirty="0">
                <a:solidFill>
                  <a:srgbClr val="0B2E33"/>
                </a:solidFill>
                <a:latin typeface="Calibri" pitchFamily="34" charset="0"/>
                <a:ea typeface="Calibri" pitchFamily="34" charset="-122"/>
                <a:cs typeface="Calibri" pitchFamily="34" charset="-120"/>
              </a:rPr>
              <a:t>Q5 – Q10</a:t>
            </a:r>
            <a:endParaRPr lang="en-US" sz="1100" dirty="0"/>
          </a:p>
        </p:txBody>
      </p:sp>
      <p:sp>
        <p:nvSpPr>
          <p:cNvPr id="4" name="Text 0"/>
          <p:cNvSpPr>
            <a:spLocks noGrp="1"/>
          </p:cNvSpPr>
          <p:nvPr>
            <p:ph type="title" idx="100" hasCustomPrompt="1"/>
          </p:nvPr>
        </p:nvSpPr>
        <p:spPr>
          <a:xfrm>
            <a:off x="457200" y="566928"/>
            <a:ext cx="8229600" cy="594360"/>
          </a:xfrm>
          <a:prstGeom prst="rect">
            <a:avLst/>
          </a:prstGeom>
          <a:noFill/>
          <a:ln/>
        </p:spPr>
        <p:txBody>
          <a:bodyPr wrap="square" lIns="0" tIns="0" rIns="0" bIns="0" rtlCol="0" anchor="t"/>
          <a:lstStyle/>
          <a:p>
            <a:pPr marL="0" indent="0" algn="l">
              <a:buNone/>
            </a:pPr>
            <a:r>
              <a:rPr lang="en-US" sz="2800" b="1" dirty="0">
                <a:solidFill>
                  <a:srgbClr val="0B2E33"/>
                </a:solidFill>
                <a:latin typeface="Calibri" pitchFamily="34" charset="0"/>
                <a:ea typeface="Calibri" pitchFamily="34" charset="-122"/>
                <a:cs typeface="Calibri" pitchFamily="34" charset="-120"/>
              </a:rPr>
              <a:t>Preparation choices, each with a reason</a:t>
            </a:r>
            <a:endParaRPr lang="en-US" sz="2800" dirty="0"/>
          </a:p>
        </p:txBody>
      </p:sp>
      <p:sp>
        <p:nvSpPr>
          <p:cNvPr id="6" name="card"/>
          <p:cNvSpPr/>
          <p:nvPr/>
        </p:nvSpPr>
        <p:spPr>
          <a:xfrm>
            <a:off x="457200" y="1371600"/>
            <a:ext cx="2651760" cy="1417320"/>
          </a:xfrm>
          <a:prstGeom prst="roundRect">
            <a:avLst>
              <a:gd name="adj" fmla="val 5161"/>
            </a:avLst>
          </a:prstGeom>
          <a:solidFill>
            <a:srgbClr val="E8F7F6"/>
          </a:solidFill>
          <a:ln w="12700">
            <a:solidFill>
              <a:srgbClr val="E8F7F6"/>
            </a:solidFill>
            <a:prstDash val="solid"/>
          </a:ln>
        </p:spPr>
        <p:txBody>
          <a:bodyPr/>
          <a:lstStyle/>
          <a:p>
            <a:endParaRPr lang="en-PH"/>
          </a:p>
        </p:txBody>
      </p:sp>
      <p:sp>
        <p:nvSpPr>
          <p:cNvPr id="7" name="Text 4"/>
          <p:cNvSpPr txBox="1"/>
          <p:nvPr/>
        </p:nvSpPr>
        <p:spPr>
          <a:xfrm>
            <a:off x="640080" y="1508760"/>
            <a:ext cx="2286000" cy="320040"/>
          </a:xfrm>
          <a:prstGeom prst="rect">
            <a:avLst/>
          </a:prstGeom>
          <a:noFill/>
          <a:ln/>
        </p:spPr>
        <p:txBody>
          <a:bodyPr wrap="square" lIns="0" tIns="0" rIns="0" bIns="0" rtlCol="0" anchor="t"/>
          <a:lstStyle/>
          <a:p>
            <a:pPr marL="0" indent="0">
              <a:buNone/>
            </a:pPr>
            <a:r>
              <a:rPr lang="en-US" sz="1500" b="1" dirty="0">
                <a:solidFill>
                  <a:srgbClr val="008C83"/>
                </a:solidFill>
                <a:latin typeface="Calibri" pitchFamily="34" charset="0"/>
                <a:ea typeface="Calibri" pitchFamily="34" charset="-122"/>
                <a:cs typeface="Calibri" pitchFamily="34" charset="-120"/>
              </a:rPr>
              <a:t>Q5  Class imbalance</a:t>
            </a:r>
            <a:endParaRPr lang="en-US" sz="1500" dirty="0"/>
          </a:p>
        </p:txBody>
      </p:sp>
      <p:sp>
        <p:nvSpPr>
          <p:cNvPr id="8" name="Text 5"/>
          <p:cNvSpPr txBox="1"/>
          <p:nvPr/>
        </p:nvSpPr>
        <p:spPr>
          <a:xfrm>
            <a:off x="640080" y="1874520"/>
            <a:ext cx="2286000" cy="868680"/>
          </a:xfrm>
          <a:prstGeom prst="rect">
            <a:avLst/>
          </a:prstGeom>
          <a:noFill/>
          <a:ln/>
        </p:spPr>
        <p:txBody>
          <a:bodyPr wrap="square" lIns="0" tIns="0" rIns="0" bIns="0" rtlCol="0" anchor="t"/>
          <a:lstStyle/>
          <a:p>
            <a:pPr marL="0" indent="0">
              <a:buNone/>
            </a:pPr>
            <a:r>
              <a:rPr lang="en-US" sz="1300" dirty="0">
                <a:solidFill>
                  <a:srgbClr val="0B2E33"/>
                </a:solidFill>
                <a:latin typeface="Calibri" pitchFamily="34" charset="0"/>
                <a:ea typeface="Calibri" pitchFamily="34" charset="-122"/>
                <a:cs typeface="Calibri" pitchFamily="34" charset="-120"/>
              </a:rPr>
              <a:t>No resampling. It would distort the probabilities the profit cut-off needs.</a:t>
            </a:r>
            <a:endParaRPr lang="en-US" sz="1300" dirty="0"/>
          </a:p>
        </p:txBody>
      </p:sp>
      <p:sp>
        <p:nvSpPr>
          <p:cNvPr id="9" name="card"/>
          <p:cNvSpPr/>
          <p:nvPr/>
        </p:nvSpPr>
        <p:spPr>
          <a:xfrm>
            <a:off x="3291840" y="1371600"/>
            <a:ext cx="2651760" cy="1417320"/>
          </a:xfrm>
          <a:prstGeom prst="roundRect">
            <a:avLst>
              <a:gd name="adj" fmla="val 5161"/>
            </a:avLst>
          </a:prstGeom>
          <a:solidFill>
            <a:srgbClr val="E8F7F6"/>
          </a:solidFill>
          <a:ln w="12700">
            <a:solidFill>
              <a:srgbClr val="E8F7F6"/>
            </a:solidFill>
            <a:prstDash val="solid"/>
          </a:ln>
        </p:spPr>
        <p:txBody>
          <a:bodyPr/>
          <a:lstStyle/>
          <a:p>
            <a:endParaRPr lang="en-PH"/>
          </a:p>
        </p:txBody>
      </p:sp>
      <p:sp>
        <p:nvSpPr>
          <p:cNvPr id="10" name="Text 7"/>
          <p:cNvSpPr txBox="1"/>
          <p:nvPr/>
        </p:nvSpPr>
        <p:spPr>
          <a:xfrm>
            <a:off x="3474720" y="1508760"/>
            <a:ext cx="2286000" cy="320040"/>
          </a:xfrm>
          <a:prstGeom prst="rect">
            <a:avLst/>
          </a:prstGeom>
          <a:noFill/>
          <a:ln/>
        </p:spPr>
        <p:txBody>
          <a:bodyPr wrap="square" lIns="0" tIns="0" rIns="0" bIns="0" rtlCol="0" anchor="t"/>
          <a:lstStyle/>
          <a:p>
            <a:pPr marL="0" indent="0">
              <a:buNone/>
            </a:pPr>
            <a:r>
              <a:rPr lang="en-US" sz="1500" b="1" dirty="0">
                <a:solidFill>
                  <a:srgbClr val="008C83"/>
                </a:solidFill>
                <a:latin typeface="Calibri" pitchFamily="34" charset="0"/>
                <a:ea typeface="Calibri" pitchFamily="34" charset="-122"/>
                <a:cs typeface="Calibri" pitchFamily="34" charset="-120"/>
              </a:rPr>
              <a:t>Q6  Different scales</a:t>
            </a:r>
            <a:endParaRPr lang="en-US" sz="1500" dirty="0"/>
          </a:p>
        </p:txBody>
      </p:sp>
      <p:sp>
        <p:nvSpPr>
          <p:cNvPr id="11" name="Text 8"/>
          <p:cNvSpPr txBox="1"/>
          <p:nvPr/>
        </p:nvSpPr>
        <p:spPr>
          <a:xfrm>
            <a:off x="3474720" y="1874520"/>
            <a:ext cx="2286000" cy="868680"/>
          </a:xfrm>
          <a:prstGeom prst="rect">
            <a:avLst/>
          </a:prstGeom>
          <a:noFill/>
          <a:ln/>
        </p:spPr>
        <p:txBody>
          <a:bodyPr wrap="square" lIns="0" tIns="0" rIns="0" bIns="0" rtlCol="0" anchor="t"/>
          <a:lstStyle/>
          <a:p>
            <a:pPr marL="0" indent="0">
              <a:buNone/>
            </a:pPr>
            <a:r>
              <a:rPr lang="en-US" sz="1300" dirty="0">
                <a:solidFill>
                  <a:srgbClr val="0B2E33"/>
                </a:solidFill>
                <a:latin typeface="Calibri" pitchFamily="34" charset="0"/>
                <a:ea typeface="Calibri" pitchFamily="34" charset="-122"/>
                <a:cs typeface="Calibri" pitchFamily="34" charset="-120"/>
              </a:rPr>
              <a:t>Standardise for logistic regression, because the penalty depends on scale.</a:t>
            </a:r>
            <a:endParaRPr lang="en-US" sz="1300" dirty="0"/>
          </a:p>
        </p:txBody>
      </p:sp>
      <p:sp>
        <p:nvSpPr>
          <p:cNvPr id="12" name="card"/>
          <p:cNvSpPr/>
          <p:nvPr/>
        </p:nvSpPr>
        <p:spPr>
          <a:xfrm>
            <a:off x="6126480" y="1371600"/>
            <a:ext cx="2651760" cy="1417320"/>
          </a:xfrm>
          <a:prstGeom prst="roundRect">
            <a:avLst>
              <a:gd name="adj" fmla="val 5161"/>
            </a:avLst>
          </a:prstGeom>
          <a:solidFill>
            <a:srgbClr val="E8F7F6"/>
          </a:solidFill>
          <a:ln w="12700">
            <a:solidFill>
              <a:srgbClr val="E8F7F6"/>
            </a:solidFill>
            <a:prstDash val="solid"/>
          </a:ln>
        </p:spPr>
        <p:txBody>
          <a:bodyPr/>
          <a:lstStyle/>
          <a:p>
            <a:endParaRPr lang="en-PH"/>
          </a:p>
        </p:txBody>
      </p:sp>
      <p:sp>
        <p:nvSpPr>
          <p:cNvPr id="13" name="Text 10"/>
          <p:cNvSpPr txBox="1"/>
          <p:nvPr/>
        </p:nvSpPr>
        <p:spPr>
          <a:xfrm>
            <a:off x="6309360" y="1508760"/>
            <a:ext cx="2286000" cy="320040"/>
          </a:xfrm>
          <a:prstGeom prst="rect">
            <a:avLst/>
          </a:prstGeom>
          <a:noFill/>
          <a:ln/>
        </p:spPr>
        <p:txBody>
          <a:bodyPr wrap="square" lIns="0" tIns="0" rIns="0" bIns="0" rtlCol="0" anchor="t"/>
          <a:lstStyle/>
          <a:p>
            <a:pPr marL="0" indent="0">
              <a:buNone/>
            </a:pPr>
            <a:r>
              <a:rPr lang="en-US" sz="1500" b="1" dirty="0">
                <a:solidFill>
                  <a:srgbClr val="008C83"/>
                </a:solidFill>
                <a:latin typeface="Calibri" pitchFamily="34" charset="0"/>
                <a:ea typeface="Calibri" pitchFamily="34" charset="-122"/>
                <a:cs typeface="Calibri" pitchFamily="34" charset="-120"/>
              </a:rPr>
              <a:t>Q7  Categoricals</a:t>
            </a:r>
            <a:endParaRPr lang="en-US" sz="1500" dirty="0"/>
          </a:p>
        </p:txBody>
      </p:sp>
      <p:sp>
        <p:nvSpPr>
          <p:cNvPr id="14" name="Text 11"/>
          <p:cNvSpPr txBox="1"/>
          <p:nvPr/>
        </p:nvSpPr>
        <p:spPr>
          <a:xfrm>
            <a:off x="6309360" y="1874520"/>
            <a:ext cx="2286000" cy="868680"/>
          </a:xfrm>
          <a:prstGeom prst="rect">
            <a:avLst/>
          </a:prstGeom>
          <a:noFill/>
          <a:ln/>
        </p:spPr>
        <p:txBody>
          <a:bodyPr wrap="square" lIns="0" tIns="0" rIns="0" bIns="0" rtlCol="0" anchor="t"/>
          <a:lstStyle/>
          <a:p>
            <a:pPr marL="0" indent="0">
              <a:buNone/>
            </a:pPr>
            <a:r>
              <a:rPr lang="en-US" sz="1300" dirty="0">
                <a:solidFill>
                  <a:srgbClr val="0B2E33"/>
                </a:solidFill>
                <a:latin typeface="Calibri" pitchFamily="34" charset="0"/>
                <a:ea typeface="Calibri" pitchFamily="34" charset="-122"/>
                <a:cs typeface="Calibri" pitchFamily="34" charset="-120"/>
              </a:rPr>
              <a:t>One-hot encode. Levels under 1% pooled, learned on training data.</a:t>
            </a:r>
            <a:endParaRPr lang="en-US" sz="1300" dirty="0"/>
          </a:p>
        </p:txBody>
      </p:sp>
      <p:sp>
        <p:nvSpPr>
          <p:cNvPr id="15" name="card"/>
          <p:cNvSpPr/>
          <p:nvPr/>
        </p:nvSpPr>
        <p:spPr>
          <a:xfrm>
            <a:off x="457200" y="2971800"/>
            <a:ext cx="2651760" cy="1417320"/>
          </a:xfrm>
          <a:prstGeom prst="roundRect">
            <a:avLst>
              <a:gd name="adj" fmla="val 5161"/>
            </a:avLst>
          </a:prstGeom>
          <a:solidFill>
            <a:srgbClr val="E8F7F6"/>
          </a:solidFill>
          <a:ln w="12700">
            <a:solidFill>
              <a:srgbClr val="E8F7F6"/>
            </a:solidFill>
            <a:prstDash val="solid"/>
          </a:ln>
        </p:spPr>
        <p:txBody>
          <a:bodyPr/>
          <a:lstStyle/>
          <a:p>
            <a:endParaRPr lang="en-PH"/>
          </a:p>
        </p:txBody>
      </p:sp>
      <p:sp>
        <p:nvSpPr>
          <p:cNvPr id="16" name="Text 13"/>
          <p:cNvSpPr txBox="1"/>
          <p:nvPr/>
        </p:nvSpPr>
        <p:spPr>
          <a:xfrm>
            <a:off x="640080" y="3108960"/>
            <a:ext cx="2286000" cy="320040"/>
          </a:xfrm>
          <a:prstGeom prst="rect">
            <a:avLst/>
          </a:prstGeom>
          <a:noFill/>
          <a:ln/>
        </p:spPr>
        <p:txBody>
          <a:bodyPr wrap="square" lIns="0" tIns="0" rIns="0" bIns="0" rtlCol="0" anchor="t"/>
          <a:lstStyle/>
          <a:p>
            <a:pPr marL="0" indent="0">
              <a:buNone/>
            </a:pPr>
            <a:r>
              <a:rPr lang="en-US" sz="1500" b="1" dirty="0">
                <a:solidFill>
                  <a:srgbClr val="008C83"/>
                </a:solidFill>
                <a:latin typeface="Calibri" pitchFamily="34" charset="0"/>
                <a:ea typeface="Calibri" pitchFamily="34" charset="-122"/>
                <a:cs typeface="Calibri" pitchFamily="34" charset="-120"/>
              </a:rPr>
              <a:t>Q8  Binning numerics</a:t>
            </a:r>
            <a:endParaRPr lang="en-US" sz="1500" dirty="0"/>
          </a:p>
        </p:txBody>
      </p:sp>
      <p:sp>
        <p:nvSpPr>
          <p:cNvPr id="17" name="Text 14"/>
          <p:cNvSpPr txBox="1"/>
          <p:nvPr/>
        </p:nvSpPr>
        <p:spPr>
          <a:xfrm>
            <a:off x="640080" y="3474720"/>
            <a:ext cx="2286000" cy="868680"/>
          </a:xfrm>
          <a:prstGeom prst="rect">
            <a:avLst/>
          </a:prstGeom>
          <a:noFill/>
          <a:ln/>
        </p:spPr>
        <p:txBody>
          <a:bodyPr wrap="square" lIns="0" tIns="0" rIns="0" bIns="0" rtlCol="0" anchor="t"/>
          <a:lstStyle/>
          <a:p>
            <a:pPr marL="0" indent="0">
              <a:buNone/>
            </a:pPr>
            <a:r>
              <a:rPr lang="en-US" sz="1300" dirty="0">
                <a:solidFill>
                  <a:srgbClr val="0B2E33"/>
                </a:solidFill>
                <a:latin typeface="Calibri" pitchFamily="34" charset="0"/>
                <a:ea typeface="Calibri" pitchFamily="34" charset="-122"/>
                <a:cs typeface="Calibri" pitchFamily="34" charset="-120"/>
              </a:rPr>
              <a:t>No. It added only 0.0004 AUC.</a:t>
            </a:r>
            <a:endParaRPr lang="en-US" sz="1300" dirty="0"/>
          </a:p>
        </p:txBody>
      </p:sp>
      <p:sp>
        <p:nvSpPr>
          <p:cNvPr id="18" name="card"/>
          <p:cNvSpPr/>
          <p:nvPr/>
        </p:nvSpPr>
        <p:spPr>
          <a:xfrm>
            <a:off x="3291840" y="2971800"/>
            <a:ext cx="2651760" cy="1417320"/>
          </a:xfrm>
          <a:prstGeom prst="roundRect">
            <a:avLst>
              <a:gd name="adj" fmla="val 5161"/>
            </a:avLst>
          </a:prstGeom>
          <a:solidFill>
            <a:srgbClr val="E8F7F6"/>
          </a:solidFill>
          <a:ln w="12700">
            <a:solidFill>
              <a:srgbClr val="E8F7F6"/>
            </a:solidFill>
            <a:prstDash val="solid"/>
          </a:ln>
        </p:spPr>
        <p:txBody>
          <a:bodyPr/>
          <a:lstStyle/>
          <a:p>
            <a:endParaRPr lang="en-PH"/>
          </a:p>
        </p:txBody>
      </p:sp>
      <p:sp>
        <p:nvSpPr>
          <p:cNvPr id="19" name="Text 16"/>
          <p:cNvSpPr txBox="1"/>
          <p:nvPr/>
        </p:nvSpPr>
        <p:spPr>
          <a:xfrm>
            <a:off x="3474720" y="3108960"/>
            <a:ext cx="2286000" cy="320040"/>
          </a:xfrm>
          <a:prstGeom prst="rect">
            <a:avLst/>
          </a:prstGeom>
          <a:noFill/>
          <a:ln/>
        </p:spPr>
        <p:txBody>
          <a:bodyPr wrap="square" lIns="0" tIns="0" rIns="0" bIns="0" rtlCol="0" anchor="t"/>
          <a:lstStyle/>
          <a:p>
            <a:pPr marL="0" indent="0">
              <a:buNone/>
            </a:pPr>
            <a:r>
              <a:rPr lang="en-US" sz="1500" b="1" dirty="0">
                <a:solidFill>
                  <a:srgbClr val="008C83"/>
                </a:solidFill>
                <a:latin typeface="Calibri" pitchFamily="34" charset="0"/>
                <a:ea typeface="Calibri" pitchFamily="34" charset="-122"/>
                <a:cs typeface="Calibri" pitchFamily="34" charset="-120"/>
              </a:rPr>
              <a:t>Q9  Train / test split</a:t>
            </a:r>
            <a:endParaRPr lang="en-US" sz="1500" dirty="0"/>
          </a:p>
        </p:txBody>
      </p:sp>
      <p:sp>
        <p:nvSpPr>
          <p:cNvPr id="20" name="Text 17"/>
          <p:cNvSpPr txBox="1"/>
          <p:nvPr/>
        </p:nvSpPr>
        <p:spPr>
          <a:xfrm>
            <a:off x="3474720" y="3474720"/>
            <a:ext cx="2286000" cy="868680"/>
          </a:xfrm>
          <a:prstGeom prst="rect">
            <a:avLst/>
          </a:prstGeom>
          <a:noFill/>
          <a:ln/>
        </p:spPr>
        <p:txBody>
          <a:bodyPr wrap="square" lIns="0" tIns="0" rIns="0" bIns="0" rtlCol="0" anchor="t"/>
          <a:lstStyle/>
          <a:p>
            <a:pPr marL="0" indent="0">
              <a:buNone/>
            </a:pPr>
            <a:r>
              <a:rPr lang="en-US" sz="1300" dirty="0">
                <a:solidFill>
                  <a:srgbClr val="0B2E33"/>
                </a:solidFill>
                <a:latin typeface="Calibri" pitchFamily="34" charset="0"/>
                <a:ea typeface="Calibri" pitchFamily="34" charset="-122"/>
                <a:cs typeface="Calibri" pitchFamily="34" charset="-120"/>
              </a:rPr>
              <a:t>Stratified 70/30 before any target-aware step. Test set scored once.</a:t>
            </a:r>
            <a:endParaRPr lang="en-US" sz="1300" dirty="0"/>
          </a:p>
        </p:txBody>
      </p:sp>
      <p:sp>
        <p:nvSpPr>
          <p:cNvPr id="21" name="card"/>
          <p:cNvSpPr/>
          <p:nvPr/>
        </p:nvSpPr>
        <p:spPr>
          <a:xfrm>
            <a:off x="6126480" y="2971800"/>
            <a:ext cx="2651760" cy="1417320"/>
          </a:xfrm>
          <a:prstGeom prst="roundRect">
            <a:avLst>
              <a:gd name="adj" fmla="val 5161"/>
            </a:avLst>
          </a:prstGeom>
          <a:solidFill>
            <a:srgbClr val="E8F7F6"/>
          </a:solidFill>
          <a:ln w="12700">
            <a:solidFill>
              <a:srgbClr val="E8F7F6"/>
            </a:solidFill>
            <a:prstDash val="solid"/>
          </a:ln>
        </p:spPr>
        <p:txBody>
          <a:bodyPr/>
          <a:lstStyle/>
          <a:p>
            <a:endParaRPr lang="en-PH"/>
          </a:p>
        </p:txBody>
      </p:sp>
      <p:sp>
        <p:nvSpPr>
          <p:cNvPr id="22" name="Text 19"/>
          <p:cNvSpPr txBox="1"/>
          <p:nvPr/>
        </p:nvSpPr>
        <p:spPr>
          <a:xfrm>
            <a:off x="6309360" y="3108960"/>
            <a:ext cx="2286000" cy="320040"/>
          </a:xfrm>
          <a:prstGeom prst="rect">
            <a:avLst/>
          </a:prstGeom>
          <a:noFill/>
          <a:ln/>
        </p:spPr>
        <p:txBody>
          <a:bodyPr wrap="square" lIns="0" tIns="0" rIns="0" bIns="0" rtlCol="0" anchor="t"/>
          <a:lstStyle/>
          <a:p>
            <a:pPr marL="0" indent="0">
              <a:buNone/>
            </a:pPr>
            <a:r>
              <a:rPr lang="en-US" sz="1500" b="1" dirty="0">
                <a:solidFill>
                  <a:srgbClr val="008C83"/>
                </a:solidFill>
                <a:latin typeface="Calibri" pitchFamily="34" charset="0"/>
                <a:ea typeface="Calibri" pitchFamily="34" charset="-122"/>
                <a:cs typeface="Calibri" pitchFamily="34" charset="-120"/>
              </a:rPr>
              <a:t>Q10  Validation</a:t>
            </a:r>
            <a:endParaRPr lang="en-US" sz="1500" dirty="0"/>
          </a:p>
        </p:txBody>
      </p:sp>
      <p:sp>
        <p:nvSpPr>
          <p:cNvPr id="23" name="Text 20"/>
          <p:cNvSpPr txBox="1"/>
          <p:nvPr/>
        </p:nvSpPr>
        <p:spPr>
          <a:xfrm>
            <a:off x="6309360" y="3474720"/>
            <a:ext cx="2286000" cy="868680"/>
          </a:xfrm>
          <a:prstGeom prst="rect">
            <a:avLst/>
          </a:prstGeom>
          <a:noFill/>
          <a:ln/>
        </p:spPr>
        <p:txBody>
          <a:bodyPr wrap="square" lIns="0" tIns="0" rIns="0" bIns="0" rtlCol="0" anchor="t"/>
          <a:lstStyle/>
          <a:p>
            <a:pPr marL="0" indent="0">
              <a:buNone/>
            </a:pPr>
            <a:r>
              <a:rPr lang="en-US" sz="1300" dirty="0">
                <a:solidFill>
                  <a:srgbClr val="0B2E33"/>
                </a:solidFill>
                <a:latin typeface="Calibri" pitchFamily="34" charset="0"/>
                <a:ea typeface="Calibri" pitchFamily="34" charset="-122"/>
                <a:cs typeface="Calibri" pitchFamily="34" charset="-120"/>
              </a:rPr>
              <a:t>5-fold stratified CV, with preprocessing refit inside each fold.</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E"/>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256032"/>
            <a:ext cx="1348740" cy="256032"/>
          </a:xfrm>
          <a:prstGeom prst="roundRect">
            <a:avLst>
              <a:gd name="adj" fmla="val 50000"/>
            </a:avLst>
          </a:prstGeom>
          <a:solidFill>
            <a:srgbClr val="00BFB3"/>
          </a:solidFill>
          <a:ln w="12700">
            <a:solidFill>
              <a:srgbClr val="00BFB3"/>
            </a:solidFill>
            <a:prstDash val="solid"/>
          </a:ln>
        </p:spPr>
        <p:txBody>
          <a:bodyPr/>
          <a:lstStyle/>
          <a:p>
            <a:endParaRPr lang="en-PH"/>
          </a:p>
        </p:txBody>
      </p:sp>
      <p:sp>
        <p:nvSpPr>
          <p:cNvPr id="3" name="Text 1"/>
          <p:cNvSpPr txBox="1"/>
          <p:nvPr/>
        </p:nvSpPr>
        <p:spPr>
          <a:xfrm>
            <a:off x="457200" y="256032"/>
            <a:ext cx="1348740" cy="256032"/>
          </a:xfrm>
          <a:prstGeom prst="rect">
            <a:avLst/>
          </a:prstGeom>
          <a:noFill/>
          <a:ln/>
        </p:spPr>
        <p:txBody>
          <a:bodyPr wrap="square" lIns="0" tIns="0" rIns="0" bIns="0" rtlCol="0" anchor="ctr"/>
          <a:lstStyle/>
          <a:p>
            <a:pPr marL="0" indent="0" algn="ctr">
              <a:buNone/>
            </a:pPr>
            <a:r>
              <a:rPr lang="en-US" sz="1100" b="1" dirty="0">
                <a:solidFill>
                  <a:srgbClr val="0B2E33"/>
                </a:solidFill>
                <a:latin typeface="Calibri" pitchFamily="34" charset="0"/>
                <a:ea typeface="Calibri" pitchFamily="34" charset="-122"/>
                <a:cs typeface="Calibri" pitchFamily="34" charset="-120"/>
              </a:rPr>
              <a:t>Q11 · Q14 · Q15</a:t>
            </a:r>
            <a:endParaRPr lang="en-US" sz="1100" dirty="0"/>
          </a:p>
        </p:txBody>
      </p:sp>
      <p:sp>
        <p:nvSpPr>
          <p:cNvPr id="4" name="Text 0"/>
          <p:cNvSpPr>
            <a:spLocks noGrp="1"/>
          </p:cNvSpPr>
          <p:nvPr>
            <p:ph type="title" idx="100" hasCustomPrompt="1"/>
          </p:nvPr>
        </p:nvSpPr>
        <p:spPr>
          <a:xfrm>
            <a:off x="457200" y="566928"/>
            <a:ext cx="8229600" cy="594360"/>
          </a:xfrm>
          <a:prstGeom prst="rect">
            <a:avLst/>
          </a:prstGeom>
          <a:noFill/>
          <a:ln/>
        </p:spPr>
        <p:txBody>
          <a:bodyPr wrap="square" lIns="0" tIns="0" rIns="0" bIns="0" rtlCol="0" anchor="t"/>
          <a:lstStyle/>
          <a:p>
            <a:pPr marL="0" indent="0" algn="l">
              <a:buNone/>
            </a:pPr>
            <a:r>
              <a:rPr lang="en-US" sz="2800" b="1" dirty="0">
                <a:solidFill>
                  <a:srgbClr val="0B2E33"/>
                </a:solidFill>
                <a:latin typeface="Calibri" pitchFamily="34" charset="0"/>
                <a:ea typeface="Calibri" pitchFamily="34" charset="-122"/>
                <a:cs typeface="Calibri" pitchFamily="34" charset="-120"/>
              </a:rPr>
              <a:t>Three tuned models tie, so the simplest one wins</a:t>
            </a:r>
            <a:endParaRPr lang="en-US" sz="2800" dirty="0"/>
          </a:p>
        </p:txBody>
      </p:sp>
      <p:graphicFrame>
        <p:nvGraphicFramePr>
          <p:cNvPr id="6" name="Chart 0"/>
          <p:cNvGraphicFramePr/>
          <p:nvPr/>
        </p:nvGraphicFramePr>
        <p:xfrm>
          <a:off x="457200" y="1371600"/>
          <a:ext cx="47548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card"/>
          <p:cNvSpPr/>
          <p:nvPr/>
        </p:nvSpPr>
        <p:spPr>
          <a:xfrm>
            <a:off x="5486400" y="1371600"/>
            <a:ext cx="3200400" cy="3017520"/>
          </a:xfrm>
          <a:prstGeom prst="roundRect">
            <a:avLst>
              <a:gd name="adj" fmla="val 2424"/>
            </a:avLst>
          </a:prstGeom>
          <a:solidFill>
            <a:srgbClr val="E8F7F6"/>
          </a:solidFill>
          <a:ln w="12700">
            <a:solidFill>
              <a:srgbClr val="E8F7F6"/>
            </a:solidFill>
            <a:prstDash val="solid"/>
          </a:ln>
        </p:spPr>
        <p:txBody>
          <a:bodyPr/>
          <a:lstStyle/>
          <a:p>
            <a:endParaRPr lang="en-PH"/>
          </a:p>
        </p:txBody>
      </p:sp>
      <p:sp>
        <p:nvSpPr>
          <p:cNvPr id="8" name="Text 4"/>
          <p:cNvSpPr txBox="1"/>
          <p:nvPr/>
        </p:nvSpPr>
        <p:spPr>
          <a:xfrm>
            <a:off x="5715000" y="1554480"/>
            <a:ext cx="2743200"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t>Gap to best: 0.001, against a standard error of 0.005</a:t>
            </a:r>
          </a:p>
          <a:p>
            <a:pPr marL="342900" indent="-342900">
              <a:spcAft>
                <a:spcPts val="600"/>
              </a:spcAft>
              <a:buSzPct val="100000"/>
              <a:buChar char="•"/>
            </a:pPr>
            <a:r>
              <a:rPr lang="en-US" sz="1400" dirty="0"/>
              <a:t> Logistic regression is within the one-standard-error margin of the best-performing model. We select it for simplicity and interpretability, not because it has the highest observed AUC.</a:t>
            </a:r>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E"/>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256032"/>
            <a:ext cx="882396" cy="256032"/>
          </a:xfrm>
          <a:prstGeom prst="roundRect">
            <a:avLst>
              <a:gd name="adj" fmla="val 50000"/>
            </a:avLst>
          </a:prstGeom>
          <a:solidFill>
            <a:srgbClr val="00BFB3"/>
          </a:solidFill>
          <a:ln w="12700">
            <a:solidFill>
              <a:srgbClr val="00BFB3"/>
            </a:solidFill>
            <a:prstDash val="solid"/>
          </a:ln>
        </p:spPr>
        <p:txBody>
          <a:bodyPr/>
          <a:lstStyle/>
          <a:p>
            <a:endParaRPr lang="en-PH"/>
          </a:p>
        </p:txBody>
      </p:sp>
      <p:sp>
        <p:nvSpPr>
          <p:cNvPr id="3" name="Text 1"/>
          <p:cNvSpPr txBox="1"/>
          <p:nvPr/>
        </p:nvSpPr>
        <p:spPr>
          <a:xfrm>
            <a:off x="457200" y="256032"/>
            <a:ext cx="882396" cy="256032"/>
          </a:xfrm>
          <a:prstGeom prst="rect">
            <a:avLst/>
          </a:prstGeom>
          <a:noFill/>
          <a:ln/>
        </p:spPr>
        <p:txBody>
          <a:bodyPr wrap="square" lIns="0" tIns="0" rIns="0" bIns="0" rtlCol="0" anchor="ctr"/>
          <a:lstStyle/>
          <a:p>
            <a:pPr marL="0" indent="0" algn="ctr">
              <a:buNone/>
            </a:pPr>
            <a:r>
              <a:rPr lang="en-US" sz="1100" b="1" dirty="0">
                <a:solidFill>
                  <a:srgbClr val="0B2E33"/>
                </a:solidFill>
                <a:latin typeface="Calibri" pitchFamily="34" charset="0"/>
                <a:ea typeface="Calibri" pitchFamily="34" charset="-122"/>
                <a:cs typeface="Calibri" pitchFamily="34" charset="-120"/>
              </a:rPr>
              <a:t>Q12 · Q13</a:t>
            </a:r>
            <a:endParaRPr lang="en-US" sz="1100" dirty="0"/>
          </a:p>
        </p:txBody>
      </p:sp>
      <p:sp>
        <p:nvSpPr>
          <p:cNvPr id="4" name="Text 0"/>
          <p:cNvSpPr>
            <a:spLocks noGrp="1"/>
          </p:cNvSpPr>
          <p:nvPr>
            <p:ph type="title" idx="100" hasCustomPrompt="1"/>
          </p:nvPr>
        </p:nvSpPr>
        <p:spPr>
          <a:xfrm>
            <a:off x="457200" y="566928"/>
            <a:ext cx="8229600" cy="594360"/>
          </a:xfrm>
          <a:prstGeom prst="rect">
            <a:avLst/>
          </a:prstGeom>
          <a:noFill/>
          <a:ln/>
        </p:spPr>
        <p:txBody>
          <a:bodyPr wrap="square" lIns="0" tIns="0" rIns="0" bIns="0" rtlCol="0" anchor="t"/>
          <a:lstStyle/>
          <a:p>
            <a:pPr marL="0" indent="0" algn="l">
              <a:buNone/>
            </a:pPr>
            <a:r>
              <a:rPr lang="en-US" sz="2800" b="1" dirty="0">
                <a:solidFill>
                  <a:srgbClr val="0B2E33"/>
                </a:solidFill>
                <a:latin typeface="Calibri" pitchFamily="34" charset="0"/>
                <a:ea typeface="Calibri" pitchFamily="34" charset="-122"/>
                <a:cs typeface="Calibri" pitchFamily="34" charset="-120"/>
              </a:rPr>
              <a:t>No overfitting, and the economy is the main driver</a:t>
            </a:r>
            <a:endParaRPr lang="en-US" sz="2800" dirty="0"/>
          </a:p>
        </p:txBody>
      </p:sp>
      <p:sp>
        <p:nvSpPr>
          <p:cNvPr id="6" name="Text 3"/>
          <p:cNvSpPr txBox="1"/>
          <p:nvPr/>
        </p:nvSpPr>
        <p:spPr>
          <a:xfrm>
            <a:off x="457200" y="1371600"/>
            <a:ext cx="2926080" cy="640080"/>
          </a:xfrm>
          <a:prstGeom prst="rect">
            <a:avLst/>
          </a:prstGeom>
          <a:noFill/>
          <a:ln/>
        </p:spPr>
        <p:txBody>
          <a:bodyPr wrap="square" lIns="0" tIns="0" rIns="0" bIns="0" rtlCol="0" anchor="t"/>
          <a:lstStyle/>
          <a:p>
            <a:pPr marL="0" indent="0">
              <a:buNone/>
            </a:pPr>
            <a:r>
              <a:rPr lang="en-US" sz="4000" b="1" dirty="0">
                <a:solidFill>
                  <a:srgbClr val="0B2E33"/>
                </a:solidFill>
                <a:latin typeface="Calibri" pitchFamily="34" charset="0"/>
                <a:ea typeface="Calibri" pitchFamily="34" charset="-122"/>
                <a:cs typeface="Calibri" pitchFamily="34" charset="-120"/>
              </a:rPr>
              <a:t>0.003</a:t>
            </a:r>
            <a:endParaRPr lang="en-US" sz="4000" dirty="0"/>
          </a:p>
        </p:txBody>
      </p:sp>
      <p:sp>
        <p:nvSpPr>
          <p:cNvPr id="7" name="Text 4"/>
          <p:cNvSpPr txBox="1"/>
          <p:nvPr/>
        </p:nvSpPr>
        <p:spPr>
          <a:xfrm>
            <a:off x="457200" y="2029968"/>
            <a:ext cx="2926080" cy="45720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train vs CV AUC gap</a:t>
            </a:r>
            <a:endParaRPr lang="en-US" sz="1300" dirty="0"/>
          </a:p>
        </p:txBody>
      </p:sp>
      <p:sp>
        <p:nvSpPr>
          <p:cNvPr id="8" name="Text 5"/>
          <p:cNvSpPr txBox="1"/>
          <p:nvPr/>
        </p:nvSpPr>
        <p:spPr>
          <a:xfrm>
            <a:off x="457200" y="2423160"/>
            <a:ext cx="2926080" cy="640080"/>
          </a:xfrm>
          <a:prstGeom prst="rect">
            <a:avLst/>
          </a:prstGeom>
          <a:noFill/>
          <a:ln/>
        </p:spPr>
        <p:txBody>
          <a:bodyPr wrap="square" lIns="0" tIns="0" rIns="0" bIns="0" rtlCol="0" anchor="t"/>
          <a:lstStyle/>
          <a:p>
            <a:pPr marL="0" indent="0">
              <a:buNone/>
            </a:pPr>
            <a:r>
              <a:rPr lang="en-US" sz="4000" b="1" dirty="0">
                <a:solidFill>
                  <a:srgbClr val="0B2E33"/>
                </a:solidFill>
                <a:latin typeface="Calibri" pitchFamily="34" charset="0"/>
                <a:ea typeface="Calibri" pitchFamily="34" charset="-122"/>
                <a:cs typeface="Calibri" pitchFamily="34" charset="-120"/>
              </a:rPr>
              <a:t>0.80 vs 0.785</a:t>
            </a:r>
            <a:endParaRPr lang="en-US" sz="4000" dirty="0"/>
          </a:p>
        </p:txBody>
      </p:sp>
      <p:sp>
        <p:nvSpPr>
          <p:cNvPr id="9" name="Text 6"/>
          <p:cNvSpPr txBox="1"/>
          <p:nvPr/>
        </p:nvSpPr>
        <p:spPr>
          <a:xfrm>
            <a:off x="457200" y="3081528"/>
            <a:ext cx="2926080" cy="45720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test vs CV AUC</a:t>
            </a:r>
            <a:endParaRPr lang="en-US" sz="1300" dirty="0"/>
          </a:p>
        </p:txBody>
      </p:sp>
      <p:sp>
        <p:nvSpPr>
          <p:cNvPr id="10" name="Text 7"/>
          <p:cNvSpPr txBox="1"/>
          <p:nvPr/>
        </p:nvSpPr>
        <p:spPr>
          <a:xfrm>
            <a:off x="457200" y="3474720"/>
            <a:ext cx="2926080" cy="640080"/>
          </a:xfrm>
          <a:prstGeom prst="rect">
            <a:avLst/>
          </a:prstGeom>
          <a:noFill/>
          <a:ln/>
        </p:spPr>
        <p:txBody>
          <a:bodyPr wrap="square" lIns="0" tIns="0" rIns="0" bIns="0" rtlCol="0" anchor="t"/>
          <a:lstStyle/>
          <a:p>
            <a:pPr marL="0" indent="0">
              <a:buNone/>
            </a:pPr>
            <a:r>
              <a:rPr lang="en-US" sz="4000" b="1" dirty="0">
                <a:solidFill>
                  <a:srgbClr val="0B2E33"/>
                </a:solidFill>
                <a:latin typeface="Calibri" pitchFamily="34" charset="0"/>
                <a:ea typeface="Calibri" pitchFamily="34" charset="-122"/>
                <a:cs typeface="Calibri" pitchFamily="34" charset="-120"/>
              </a:rPr>
              <a:t>Calibrated</a:t>
            </a:r>
            <a:endParaRPr lang="en-US" sz="4000" dirty="0"/>
          </a:p>
        </p:txBody>
      </p:sp>
      <p:sp>
        <p:nvSpPr>
          <p:cNvPr id="11" name="Text 8"/>
          <p:cNvSpPr txBox="1"/>
          <p:nvPr/>
        </p:nvSpPr>
        <p:spPr>
          <a:xfrm>
            <a:off x="457200" y="4133088"/>
            <a:ext cx="2926080" cy="45720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Predicted and observed rates were close across deciles</a:t>
            </a:r>
            <a:endParaRPr lang="en-US" sz="1300" dirty="0"/>
          </a:p>
        </p:txBody>
      </p:sp>
      <p:graphicFrame>
        <p:nvGraphicFramePr>
          <p:cNvPr id="12" name="Chart 0"/>
          <p:cNvGraphicFramePr/>
          <p:nvPr/>
        </p:nvGraphicFramePr>
        <p:xfrm>
          <a:off x="3657600" y="1325880"/>
          <a:ext cx="50292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E"/>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256032"/>
            <a:ext cx="960120" cy="256032"/>
          </a:xfrm>
          <a:prstGeom prst="roundRect">
            <a:avLst>
              <a:gd name="adj" fmla="val 50000"/>
            </a:avLst>
          </a:prstGeom>
          <a:solidFill>
            <a:srgbClr val="00BFB3"/>
          </a:solidFill>
          <a:ln w="12700">
            <a:solidFill>
              <a:srgbClr val="00BFB3"/>
            </a:solidFill>
            <a:prstDash val="solid"/>
          </a:ln>
        </p:spPr>
        <p:txBody>
          <a:bodyPr/>
          <a:lstStyle/>
          <a:p>
            <a:endParaRPr lang="en-PH"/>
          </a:p>
        </p:txBody>
      </p:sp>
      <p:sp>
        <p:nvSpPr>
          <p:cNvPr id="3" name="Text 1"/>
          <p:cNvSpPr txBox="1"/>
          <p:nvPr/>
        </p:nvSpPr>
        <p:spPr>
          <a:xfrm>
            <a:off x="457200" y="256032"/>
            <a:ext cx="960120" cy="256032"/>
          </a:xfrm>
          <a:prstGeom prst="rect">
            <a:avLst/>
          </a:prstGeom>
          <a:noFill/>
          <a:ln/>
        </p:spPr>
        <p:txBody>
          <a:bodyPr wrap="square" lIns="0" tIns="0" rIns="0" bIns="0" rtlCol="0" anchor="ctr"/>
          <a:lstStyle/>
          <a:p>
            <a:pPr marL="0" indent="0" algn="ctr">
              <a:buNone/>
            </a:pPr>
            <a:r>
              <a:rPr lang="en-US" sz="1100" b="1" dirty="0">
                <a:solidFill>
                  <a:srgbClr val="0B2E33"/>
                </a:solidFill>
                <a:latin typeface="Calibri" pitchFamily="34" charset="0"/>
                <a:ea typeface="Calibri" pitchFamily="34" charset="-122"/>
                <a:cs typeface="Calibri" pitchFamily="34" charset="-120"/>
              </a:rPr>
              <a:t>Q13 · RISK</a:t>
            </a:r>
            <a:endParaRPr lang="en-US" sz="1100" dirty="0"/>
          </a:p>
        </p:txBody>
      </p:sp>
      <p:sp>
        <p:nvSpPr>
          <p:cNvPr id="4" name="Text 0"/>
          <p:cNvSpPr>
            <a:spLocks noGrp="1"/>
          </p:cNvSpPr>
          <p:nvPr>
            <p:ph type="title" idx="100" hasCustomPrompt="1"/>
          </p:nvPr>
        </p:nvSpPr>
        <p:spPr>
          <a:xfrm>
            <a:off x="457200" y="566928"/>
            <a:ext cx="8229600" cy="594360"/>
          </a:xfrm>
          <a:prstGeom prst="rect">
            <a:avLst/>
          </a:prstGeom>
          <a:noFill/>
          <a:ln/>
        </p:spPr>
        <p:txBody>
          <a:bodyPr wrap="square" lIns="0" tIns="0" rIns="0" bIns="0" rtlCol="0" anchor="t"/>
          <a:lstStyle/>
          <a:p>
            <a:r>
              <a:rPr lang="en-PH" sz="2400" dirty="0"/>
              <a:t>Grouped cross-validation on combinations of macroeconomic values</a:t>
            </a:r>
            <a:endParaRPr lang="en-US" sz="2400" dirty="0"/>
          </a:p>
        </p:txBody>
      </p:sp>
      <p:graphicFrame>
        <p:nvGraphicFramePr>
          <p:cNvPr id="6" name="Chart 0"/>
          <p:cNvGraphicFramePr/>
          <p:nvPr/>
        </p:nvGraphicFramePr>
        <p:xfrm>
          <a:off x="457200" y="1325880"/>
          <a:ext cx="512064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3"/>
          <p:cNvSpPr txBox="1"/>
          <p:nvPr/>
        </p:nvSpPr>
        <p:spPr>
          <a:xfrm>
            <a:off x="5943600" y="1371600"/>
            <a:ext cx="2743200" cy="640080"/>
          </a:xfrm>
          <a:prstGeom prst="rect">
            <a:avLst/>
          </a:prstGeom>
          <a:noFill/>
          <a:ln/>
        </p:spPr>
        <p:txBody>
          <a:bodyPr wrap="square" lIns="0" tIns="0" rIns="0" bIns="0" rtlCol="0" anchor="t"/>
          <a:lstStyle/>
          <a:p>
            <a:pPr marL="0" indent="0">
              <a:buNone/>
            </a:pPr>
            <a:r>
              <a:rPr lang="en-US" sz="4000" b="1" dirty="0">
                <a:solidFill>
                  <a:srgbClr val="0B2E33"/>
                </a:solidFill>
                <a:latin typeface="Calibri" pitchFamily="34" charset="0"/>
                <a:ea typeface="Calibri" pitchFamily="34" charset="-122"/>
                <a:cs typeface="Calibri" pitchFamily="34" charset="-120"/>
              </a:rPr>
              <a:t>≈ 379k</a:t>
            </a:r>
            <a:endParaRPr lang="en-US" sz="4000" dirty="0"/>
          </a:p>
        </p:txBody>
      </p:sp>
      <p:sp>
        <p:nvSpPr>
          <p:cNvPr id="8" name="Text 4"/>
          <p:cNvSpPr txBox="1"/>
          <p:nvPr/>
        </p:nvSpPr>
        <p:spPr>
          <a:xfrm>
            <a:off x="5943600" y="2029968"/>
            <a:ext cx="2743200" cy="45720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Full model : grouped CV AUC = 0.789</a:t>
            </a:r>
            <a:endParaRPr lang="en-US" sz="1300" dirty="0"/>
          </a:p>
        </p:txBody>
      </p:sp>
      <p:sp>
        <p:nvSpPr>
          <p:cNvPr id="9" name="Text 5"/>
          <p:cNvSpPr txBox="1"/>
          <p:nvPr/>
        </p:nvSpPr>
        <p:spPr>
          <a:xfrm>
            <a:off x="5943600" y="2571750"/>
            <a:ext cx="2743200" cy="640080"/>
          </a:xfrm>
          <a:prstGeom prst="rect">
            <a:avLst/>
          </a:prstGeom>
          <a:noFill/>
          <a:ln/>
        </p:spPr>
        <p:txBody>
          <a:bodyPr wrap="square" lIns="0" tIns="0" rIns="0" bIns="0" rtlCol="0" anchor="t"/>
          <a:lstStyle/>
          <a:p>
            <a:pPr marL="0" indent="0">
              <a:buNone/>
            </a:pPr>
            <a:r>
              <a:rPr lang="en-US" sz="4000" b="1" dirty="0">
                <a:solidFill>
                  <a:srgbClr val="008C83"/>
                </a:solidFill>
                <a:latin typeface="Calibri" pitchFamily="34" charset="0"/>
                <a:ea typeface="Calibri" pitchFamily="34" charset="-122"/>
                <a:cs typeface="Calibri" pitchFamily="34" charset="-120"/>
              </a:rPr>
              <a:t>≈ 293k</a:t>
            </a:r>
            <a:endParaRPr lang="en-US" sz="4000" dirty="0"/>
          </a:p>
        </p:txBody>
      </p:sp>
      <p:sp>
        <p:nvSpPr>
          <p:cNvPr id="10" name="Text 6"/>
          <p:cNvSpPr txBox="1"/>
          <p:nvPr/>
        </p:nvSpPr>
        <p:spPr>
          <a:xfrm>
            <a:off x="5943600" y="3218688"/>
            <a:ext cx="2743200" cy="45720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Without macro variables: profit = 293k per 10,000 customers</a:t>
            </a:r>
            <a:endParaRPr lang="en-US" sz="1300" dirty="0"/>
          </a:p>
        </p:txBody>
      </p:sp>
      <p:sp>
        <p:nvSpPr>
          <p:cNvPr id="11" name="Text 7"/>
          <p:cNvSpPr txBox="1"/>
          <p:nvPr/>
        </p:nvSpPr>
        <p:spPr>
          <a:xfrm>
            <a:off x="5943600" y="3840480"/>
            <a:ext cx="2743200" cy="640080"/>
          </a:xfrm>
          <a:prstGeom prst="rect">
            <a:avLst/>
          </a:prstGeom>
          <a:noFill/>
          <a:ln/>
        </p:spPr>
        <p:txBody>
          <a:bodyPr wrap="square" lIns="0" tIns="0" rIns="0" bIns="0" rtlCol="0" anchor="t"/>
          <a:lstStyle/>
          <a:p>
            <a:pPr marL="0" indent="0">
              <a:buNone/>
            </a:pPr>
            <a:r>
              <a:rPr lang="en-US" sz="1200" dirty="0">
                <a:solidFill>
                  <a:srgbClr val="5B6B6E"/>
                </a:solidFill>
                <a:latin typeface="Calibri" pitchFamily="34" charset="0"/>
                <a:ea typeface="Calibri" pitchFamily="34" charset="-122"/>
                <a:cs typeface="Calibri" pitchFamily="34" charset="-120"/>
              </a:rPr>
              <a:t>No call dates are available, so for future-period performance remains unverified. </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E"/>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256032"/>
            <a:ext cx="416052" cy="256032"/>
          </a:xfrm>
          <a:prstGeom prst="roundRect">
            <a:avLst>
              <a:gd name="adj" fmla="val 50000"/>
            </a:avLst>
          </a:prstGeom>
          <a:solidFill>
            <a:srgbClr val="00BFB3"/>
          </a:solidFill>
          <a:ln w="12700">
            <a:solidFill>
              <a:srgbClr val="00BFB3"/>
            </a:solidFill>
            <a:prstDash val="solid"/>
          </a:ln>
        </p:spPr>
        <p:txBody>
          <a:bodyPr/>
          <a:lstStyle/>
          <a:p>
            <a:endParaRPr lang="en-PH"/>
          </a:p>
        </p:txBody>
      </p:sp>
      <p:sp>
        <p:nvSpPr>
          <p:cNvPr id="3" name="Text 1"/>
          <p:cNvSpPr txBox="1"/>
          <p:nvPr/>
        </p:nvSpPr>
        <p:spPr>
          <a:xfrm>
            <a:off x="457200" y="256032"/>
            <a:ext cx="416052" cy="256032"/>
          </a:xfrm>
          <a:prstGeom prst="rect">
            <a:avLst/>
          </a:prstGeom>
          <a:noFill/>
          <a:ln/>
        </p:spPr>
        <p:txBody>
          <a:bodyPr wrap="square" lIns="0" tIns="0" rIns="0" bIns="0" rtlCol="0" anchor="ctr"/>
          <a:lstStyle/>
          <a:p>
            <a:pPr marL="0" indent="0" algn="ctr">
              <a:buNone/>
            </a:pPr>
            <a:r>
              <a:rPr lang="en-US" sz="1100" b="1" dirty="0">
                <a:solidFill>
                  <a:srgbClr val="0B2E33"/>
                </a:solidFill>
                <a:latin typeface="Calibri" pitchFamily="34" charset="0"/>
                <a:ea typeface="Calibri" pitchFamily="34" charset="-122"/>
                <a:cs typeface="Calibri" pitchFamily="34" charset="-120"/>
              </a:rPr>
              <a:t>Q16</a:t>
            </a:r>
            <a:endParaRPr lang="en-US" sz="1100" dirty="0"/>
          </a:p>
        </p:txBody>
      </p:sp>
      <p:sp>
        <p:nvSpPr>
          <p:cNvPr id="4" name="Text 0"/>
          <p:cNvSpPr>
            <a:spLocks noGrp="1"/>
          </p:cNvSpPr>
          <p:nvPr>
            <p:ph type="title" idx="100" hasCustomPrompt="1"/>
          </p:nvPr>
        </p:nvSpPr>
        <p:spPr>
          <a:xfrm>
            <a:off x="457200" y="566928"/>
            <a:ext cx="8229600" cy="594360"/>
          </a:xfrm>
          <a:prstGeom prst="rect">
            <a:avLst/>
          </a:prstGeom>
          <a:noFill/>
          <a:ln/>
        </p:spPr>
        <p:txBody>
          <a:bodyPr wrap="square" lIns="0" tIns="0" rIns="0" bIns="0" rtlCol="0" anchor="t"/>
          <a:lstStyle/>
          <a:p>
            <a:pPr marL="0" indent="0" algn="l">
              <a:buNone/>
            </a:pPr>
            <a:r>
              <a:rPr lang="en-US" sz="2800" b="1" dirty="0">
                <a:solidFill>
                  <a:srgbClr val="0B2E33"/>
                </a:solidFill>
                <a:latin typeface="Calibri" pitchFamily="34" charset="0"/>
                <a:ea typeface="Calibri" pitchFamily="34" charset="-122"/>
                <a:cs typeface="Calibri" pitchFamily="34" charset="-120"/>
              </a:rPr>
              <a:t>The cut-off comes from the economics, not from 0.5</a:t>
            </a:r>
            <a:endParaRPr lang="en-US" sz="2800" dirty="0"/>
          </a:p>
        </p:txBody>
      </p:sp>
      <p:sp>
        <p:nvSpPr>
          <p:cNvPr id="6" name="card"/>
          <p:cNvSpPr/>
          <p:nvPr/>
        </p:nvSpPr>
        <p:spPr>
          <a:xfrm>
            <a:off x="457200" y="1371600"/>
            <a:ext cx="3840480" cy="3017520"/>
          </a:xfrm>
          <a:prstGeom prst="roundRect">
            <a:avLst>
              <a:gd name="adj" fmla="val 2424"/>
            </a:avLst>
          </a:prstGeom>
          <a:solidFill>
            <a:srgbClr val="E8F7F6"/>
          </a:solidFill>
          <a:ln w="12700">
            <a:solidFill>
              <a:srgbClr val="E8F7F6"/>
            </a:solidFill>
            <a:prstDash val="solid"/>
          </a:ln>
        </p:spPr>
        <p:txBody>
          <a:bodyPr/>
          <a:lstStyle/>
          <a:p>
            <a:endParaRPr lang="en-PH"/>
          </a:p>
        </p:txBody>
      </p:sp>
      <p:sp>
        <p:nvSpPr>
          <p:cNvPr id="7" name="Text 4"/>
          <p:cNvSpPr txBox="1"/>
          <p:nvPr/>
        </p:nvSpPr>
        <p:spPr>
          <a:xfrm>
            <a:off x="731520" y="1554480"/>
            <a:ext cx="3291840" cy="457200"/>
          </a:xfrm>
          <a:prstGeom prst="rect">
            <a:avLst/>
          </a:prstGeom>
          <a:noFill/>
          <a:ln/>
        </p:spPr>
        <p:txBody>
          <a:bodyPr wrap="square" lIns="0" tIns="0" rIns="0" bIns="0" rtlCol="0" anchor="t"/>
          <a:lstStyle/>
          <a:p>
            <a:pPr marL="0" indent="0">
              <a:buNone/>
            </a:pPr>
            <a:r>
              <a:rPr lang="en-US" sz="1500" dirty="0">
                <a:solidFill>
                  <a:srgbClr val="5B6B6E"/>
                </a:solidFill>
                <a:latin typeface="Calibri" pitchFamily="34" charset="0"/>
                <a:ea typeface="Calibri" pitchFamily="34" charset="-122"/>
                <a:cs typeface="Calibri" pitchFamily="34" charset="-120"/>
              </a:rPr>
              <a:t>Call if the chance of a sale is above</a:t>
            </a:r>
            <a:endParaRPr lang="en-US" sz="1500" dirty="0"/>
          </a:p>
        </p:txBody>
      </p:sp>
      <p:sp>
        <p:nvSpPr>
          <p:cNvPr id="8" name="Text 5"/>
          <p:cNvSpPr txBox="1"/>
          <p:nvPr/>
        </p:nvSpPr>
        <p:spPr>
          <a:xfrm>
            <a:off x="731520" y="1965960"/>
            <a:ext cx="3291840" cy="822960"/>
          </a:xfrm>
          <a:prstGeom prst="rect">
            <a:avLst/>
          </a:prstGeom>
          <a:noFill/>
          <a:ln/>
        </p:spPr>
        <p:txBody>
          <a:bodyPr wrap="square" lIns="0" tIns="0" rIns="0" bIns="0" rtlCol="0" anchor="t"/>
          <a:lstStyle/>
          <a:p>
            <a:pPr marL="0" indent="0">
              <a:buNone/>
            </a:pPr>
            <a:r>
              <a:rPr lang="en-US" sz="5400" b="1" dirty="0">
                <a:solidFill>
                  <a:srgbClr val="008C83"/>
                </a:solidFill>
                <a:latin typeface="Calibri" pitchFamily="34" charset="0"/>
                <a:ea typeface="Calibri" pitchFamily="34" charset="-122"/>
                <a:cs typeface="Calibri" pitchFamily="34" charset="-120"/>
              </a:rPr>
              <a:t>23.06%</a:t>
            </a:r>
            <a:endParaRPr lang="en-US" sz="5400" dirty="0"/>
          </a:p>
        </p:txBody>
      </p:sp>
      <p:sp>
        <p:nvSpPr>
          <p:cNvPr id="9" name="Text 6"/>
          <p:cNvSpPr txBox="1"/>
          <p:nvPr/>
        </p:nvSpPr>
        <p:spPr>
          <a:xfrm>
            <a:off x="731520" y="2880360"/>
            <a:ext cx="3291840" cy="365760"/>
          </a:xfrm>
          <a:prstGeom prst="rect">
            <a:avLst/>
          </a:prstGeom>
          <a:noFill/>
          <a:ln/>
        </p:spPr>
        <p:txBody>
          <a:bodyPr wrap="square" lIns="0" tIns="0" rIns="0" bIns="0" rtlCol="0" anchor="t"/>
          <a:lstStyle/>
          <a:p>
            <a:pPr marL="0" indent="0">
              <a:buNone/>
            </a:pPr>
            <a:r>
              <a:rPr lang="en-US" sz="1800" b="1" dirty="0">
                <a:solidFill>
                  <a:srgbClr val="0B2E33"/>
                </a:solidFill>
                <a:latin typeface="Calibri" pitchFamily="34" charset="0"/>
                <a:ea typeface="Calibri" pitchFamily="34" charset="-122"/>
                <a:cs typeface="Calibri" pitchFamily="34" charset="-120"/>
              </a:rPr>
              <a:t>= 300 ÷ (1,001 + 300)</a:t>
            </a:r>
            <a:endParaRPr lang="en-US" sz="1800" dirty="0"/>
          </a:p>
        </p:txBody>
      </p:sp>
      <p:sp>
        <p:nvSpPr>
          <p:cNvPr id="10" name="Text 7"/>
          <p:cNvSpPr txBox="1"/>
          <p:nvPr/>
        </p:nvSpPr>
        <p:spPr>
          <a:xfrm>
            <a:off x="731520" y="3383280"/>
            <a:ext cx="3291840" cy="731520"/>
          </a:xfrm>
          <a:prstGeom prst="rect">
            <a:avLst/>
          </a:prstGeom>
          <a:noFill/>
          <a:ln/>
        </p:spPr>
        <p:txBody>
          <a:bodyPr wrap="square" lIns="0" tIns="0" rIns="0" bIns="0" rtlCol="0" anchor="t"/>
          <a:lstStyle/>
          <a:p>
            <a:pPr marL="0" indent="0">
              <a:buNone/>
            </a:pPr>
            <a:r>
              <a:rPr lang="en-US" sz="1400" dirty="0">
                <a:solidFill>
                  <a:srgbClr val="5B6B6E"/>
                </a:solidFill>
                <a:latin typeface="Calibri" pitchFamily="34" charset="0"/>
                <a:ea typeface="Calibri" pitchFamily="34" charset="-122"/>
                <a:cs typeface="Calibri" pitchFamily="34" charset="-120"/>
              </a:rPr>
              <a:t>Expected net value of successful sale 1,001 (risk-band mix). Failed call costs 300.</a:t>
            </a:r>
            <a:endParaRPr lang="en-US" sz="1400" dirty="0"/>
          </a:p>
        </p:txBody>
      </p:sp>
      <p:graphicFrame>
        <p:nvGraphicFramePr>
          <p:cNvPr id="11" name="Chart 0"/>
          <p:cNvGraphicFramePr/>
          <p:nvPr/>
        </p:nvGraphicFramePr>
        <p:xfrm>
          <a:off x="4572000" y="1325880"/>
          <a:ext cx="411480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E"/>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256032"/>
            <a:ext cx="416052" cy="256032"/>
          </a:xfrm>
          <a:prstGeom prst="roundRect">
            <a:avLst>
              <a:gd name="adj" fmla="val 50000"/>
            </a:avLst>
          </a:prstGeom>
          <a:solidFill>
            <a:srgbClr val="00BFB3"/>
          </a:solidFill>
          <a:ln w="12700">
            <a:solidFill>
              <a:srgbClr val="00BFB3"/>
            </a:solidFill>
            <a:prstDash val="solid"/>
          </a:ln>
        </p:spPr>
        <p:txBody>
          <a:bodyPr/>
          <a:lstStyle/>
          <a:p>
            <a:endParaRPr lang="en-PH"/>
          </a:p>
        </p:txBody>
      </p:sp>
      <p:sp>
        <p:nvSpPr>
          <p:cNvPr id="3" name="Text 1"/>
          <p:cNvSpPr txBox="1"/>
          <p:nvPr/>
        </p:nvSpPr>
        <p:spPr>
          <a:xfrm>
            <a:off x="457200" y="256032"/>
            <a:ext cx="416052" cy="256032"/>
          </a:xfrm>
          <a:prstGeom prst="rect">
            <a:avLst/>
          </a:prstGeom>
          <a:noFill/>
          <a:ln/>
        </p:spPr>
        <p:txBody>
          <a:bodyPr wrap="square" lIns="0" tIns="0" rIns="0" bIns="0" rtlCol="0" anchor="ctr"/>
          <a:lstStyle/>
          <a:p>
            <a:pPr marL="0" indent="0" algn="ctr">
              <a:buNone/>
            </a:pPr>
            <a:r>
              <a:rPr lang="en-US" sz="1100" b="1" dirty="0">
                <a:solidFill>
                  <a:srgbClr val="0B2E33"/>
                </a:solidFill>
                <a:latin typeface="Calibri" pitchFamily="34" charset="0"/>
                <a:ea typeface="Calibri" pitchFamily="34" charset="-122"/>
                <a:cs typeface="Calibri" pitchFamily="34" charset="-120"/>
              </a:rPr>
              <a:t>Q17</a:t>
            </a:r>
            <a:endParaRPr lang="en-US" sz="1100" dirty="0"/>
          </a:p>
        </p:txBody>
      </p:sp>
      <p:sp>
        <p:nvSpPr>
          <p:cNvPr id="4" name="Text 0"/>
          <p:cNvSpPr>
            <a:spLocks noGrp="1"/>
          </p:cNvSpPr>
          <p:nvPr>
            <p:ph type="title" idx="100" hasCustomPrompt="1"/>
          </p:nvPr>
        </p:nvSpPr>
        <p:spPr>
          <a:xfrm>
            <a:off x="457200" y="566928"/>
            <a:ext cx="8229600" cy="594360"/>
          </a:xfrm>
          <a:prstGeom prst="rect">
            <a:avLst/>
          </a:prstGeom>
          <a:noFill/>
          <a:ln/>
        </p:spPr>
        <p:txBody>
          <a:bodyPr wrap="square" lIns="0" tIns="0" rIns="0" bIns="0" rtlCol="0" anchor="t"/>
          <a:lstStyle/>
          <a:p>
            <a:pPr marL="0" indent="0" algn="l">
              <a:buNone/>
            </a:pPr>
            <a:r>
              <a:rPr lang="en-US" sz="2800" b="1" dirty="0">
                <a:solidFill>
                  <a:srgbClr val="0B2E33"/>
                </a:solidFill>
                <a:latin typeface="Calibri" pitchFamily="34" charset="0"/>
                <a:ea typeface="Calibri" pitchFamily="34" charset="-122"/>
                <a:cs typeface="Calibri" pitchFamily="34" charset="-120"/>
              </a:rPr>
              <a:t>What the cut-off means in calls, sales and misses</a:t>
            </a:r>
            <a:endParaRPr lang="en-US" sz="2800" dirty="0"/>
          </a:p>
        </p:txBody>
      </p:sp>
      <p:sp>
        <p:nvSpPr>
          <p:cNvPr id="6" name="Text 3"/>
          <p:cNvSpPr txBox="1"/>
          <p:nvPr/>
        </p:nvSpPr>
        <p:spPr>
          <a:xfrm>
            <a:off x="1280160" y="1325880"/>
            <a:ext cx="1828800" cy="274320"/>
          </a:xfrm>
          <a:prstGeom prst="rect">
            <a:avLst/>
          </a:prstGeom>
          <a:noFill/>
          <a:ln/>
        </p:spPr>
        <p:txBody>
          <a:bodyPr wrap="square" lIns="0" tIns="0" rIns="0" bIns="0" rtlCol="0" anchor="t"/>
          <a:lstStyle/>
          <a:p>
            <a:pPr marL="0" indent="0" algn="ctr">
              <a:buNone/>
            </a:pPr>
            <a:r>
              <a:rPr lang="en-US" sz="1200" dirty="0">
                <a:solidFill>
                  <a:srgbClr val="5B6B6E"/>
                </a:solidFill>
                <a:latin typeface="Calibri" pitchFamily="34" charset="0"/>
                <a:ea typeface="Calibri" pitchFamily="34" charset="-122"/>
                <a:cs typeface="Calibri" pitchFamily="34" charset="-120"/>
              </a:rPr>
              <a:t>Called</a:t>
            </a:r>
            <a:endParaRPr lang="en-US" sz="1200" dirty="0"/>
          </a:p>
        </p:txBody>
      </p:sp>
      <p:sp>
        <p:nvSpPr>
          <p:cNvPr id="7" name="Text 4"/>
          <p:cNvSpPr txBox="1"/>
          <p:nvPr/>
        </p:nvSpPr>
        <p:spPr>
          <a:xfrm>
            <a:off x="3200400" y="1325880"/>
            <a:ext cx="1828800" cy="274320"/>
          </a:xfrm>
          <a:prstGeom prst="rect">
            <a:avLst/>
          </a:prstGeom>
          <a:noFill/>
          <a:ln/>
        </p:spPr>
        <p:txBody>
          <a:bodyPr wrap="square" lIns="0" tIns="0" rIns="0" bIns="0" rtlCol="0" anchor="t"/>
          <a:lstStyle/>
          <a:p>
            <a:pPr marL="0" indent="0" algn="ctr">
              <a:buNone/>
            </a:pPr>
            <a:r>
              <a:rPr lang="en-US" sz="1200" dirty="0">
                <a:solidFill>
                  <a:srgbClr val="5B6B6E"/>
                </a:solidFill>
                <a:latin typeface="Calibri" pitchFamily="34" charset="0"/>
                <a:ea typeface="Calibri" pitchFamily="34" charset="-122"/>
                <a:cs typeface="Calibri" pitchFamily="34" charset="-120"/>
              </a:rPr>
              <a:t>Not called</a:t>
            </a:r>
            <a:endParaRPr lang="en-US" sz="1200" dirty="0"/>
          </a:p>
        </p:txBody>
      </p:sp>
      <p:sp>
        <p:nvSpPr>
          <p:cNvPr id="8" name="Text 5"/>
          <p:cNvSpPr txBox="1"/>
          <p:nvPr/>
        </p:nvSpPr>
        <p:spPr>
          <a:xfrm>
            <a:off x="457200" y="1965960"/>
            <a:ext cx="822960" cy="274320"/>
          </a:xfrm>
          <a:prstGeom prst="rect">
            <a:avLst/>
          </a:prstGeom>
          <a:noFill/>
          <a:ln/>
        </p:spPr>
        <p:txBody>
          <a:bodyPr wrap="square" lIns="0" tIns="0" rIns="0" bIns="0" rtlCol="0" anchor="t"/>
          <a:lstStyle/>
          <a:p>
            <a:pPr marL="0" indent="0">
              <a:buNone/>
            </a:pPr>
            <a:r>
              <a:rPr lang="en-US" sz="1200" dirty="0">
                <a:solidFill>
                  <a:srgbClr val="5B6B6E"/>
                </a:solidFill>
                <a:latin typeface="Calibri" pitchFamily="34" charset="0"/>
                <a:ea typeface="Calibri" pitchFamily="34" charset="-122"/>
                <a:cs typeface="Calibri" pitchFamily="34" charset="-120"/>
              </a:rPr>
              <a:t>Buyer</a:t>
            </a:r>
            <a:endParaRPr lang="en-US" sz="1200" dirty="0"/>
          </a:p>
        </p:txBody>
      </p:sp>
      <p:sp>
        <p:nvSpPr>
          <p:cNvPr id="9" name="Text 6"/>
          <p:cNvSpPr txBox="1"/>
          <p:nvPr/>
        </p:nvSpPr>
        <p:spPr>
          <a:xfrm>
            <a:off x="457200" y="3291840"/>
            <a:ext cx="822960" cy="274320"/>
          </a:xfrm>
          <a:prstGeom prst="rect">
            <a:avLst/>
          </a:prstGeom>
          <a:noFill/>
          <a:ln/>
        </p:spPr>
        <p:txBody>
          <a:bodyPr wrap="square" lIns="0" tIns="0" rIns="0" bIns="0" rtlCol="0" anchor="t"/>
          <a:lstStyle/>
          <a:p>
            <a:pPr marL="0" indent="0">
              <a:buNone/>
            </a:pPr>
            <a:r>
              <a:rPr lang="en-US" sz="1200" dirty="0">
                <a:solidFill>
                  <a:srgbClr val="5B6B6E"/>
                </a:solidFill>
                <a:latin typeface="Calibri" pitchFamily="34" charset="0"/>
                <a:ea typeface="Calibri" pitchFamily="34" charset="-122"/>
                <a:cs typeface="Calibri" pitchFamily="34" charset="-120"/>
              </a:rPr>
              <a:t>Non-buyer</a:t>
            </a:r>
            <a:endParaRPr lang="en-US" sz="1200" dirty="0"/>
          </a:p>
        </p:txBody>
      </p:sp>
      <p:sp>
        <p:nvSpPr>
          <p:cNvPr id="10" name="Shape 7"/>
          <p:cNvSpPr/>
          <p:nvPr/>
        </p:nvSpPr>
        <p:spPr>
          <a:xfrm>
            <a:off x="1280160" y="1645920"/>
            <a:ext cx="1828800" cy="1234440"/>
          </a:xfrm>
          <a:prstGeom prst="roundRect">
            <a:avLst>
              <a:gd name="adj" fmla="val 5926"/>
            </a:avLst>
          </a:prstGeom>
          <a:solidFill>
            <a:srgbClr val="00BFB3"/>
          </a:solidFill>
          <a:ln w="12700">
            <a:solidFill>
              <a:srgbClr val="00BFB3"/>
            </a:solidFill>
            <a:prstDash val="solid"/>
          </a:ln>
        </p:spPr>
        <p:txBody>
          <a:bodyPr/>
          <a:lstStyle/>
          <a:p>
            <a:endParaRPr lang="en-PH"/>
          </a:p>
        </p:txBody>
      </p:sp>
      <p:sp>
        <p:nvSpPr>
          <p:cNvPr id="11" name="Text 8"/>
          <p:cNvSpPr txBox="1"/>
          <p:nvPr/>
        </p:nvSpPr>
        <p:spPr>
          <a:xfrm>
            <a:off x="1417320" y="1783080"/>
            <a:ext cx="1554480" cy="594360"/>
          </a:xfrm>
          <a:prstGeom prst="rect">
            <a:avLst/>
          </a:prstGeom>
          <a:noFill/>
          <a:ln/>
        </p:spPr>
        <p:txBody>
          <a:bodyPr wrap="square" lIns="0" tIns="0" rIns="0" bIns="0" rtlCol="0" anchor="t"/>
          <a:lstStyle/>
          <a:p>
            <a:pPr marL="0" indent="0">
              <a:buNone/>
            </a:pPr>
            <a:r>
              <a:rPr lang="en-US" sz="3000" b="1" dirty="0">
                <a:solidFill>
                  <a:srgbClr val="0B2E33"/>
                </a:solidFill>
                <a:latin typeface="Calibri" pitchFamily="34" charset="0"/>
                <a:ea typeface="Calibri" pitchFamily="34" charset="-122"/>
                <a:cs typeface="Calibri" pitchFamily="34" charset="-120"/>
              </a:rPr>
              <a:t>616</a:t>
            </a:r>
            <a:endParaRPr lang="en-US" sz="3000" dirty="0"/>
          </a:p>
        </p:txBody>
      </p:sp>
      <p:sp>
        <p:nvSpPr>
          <p:cNvPr id="12" name="Text 9"/>
          <p:cNvSpPr txBox="1"/>
          <p:nvPr/>
        </p:nvSpPr>
        <p:spPr>
          <a:xfrm>
            <a:off x="1417320" y="2423160"/>
            <a:ext cx="1554480" cy="365760"/>
          </a:xfrm>
          <a:prstGeom prst="rect">
            <a:avLst/>
          </a:prstGeom>
          <a:noFill/>
          <a:ln/>
        </p:spPr>
        <p:txBody>
          <a:bodyPr wrap="square" lIns="0" tIns="0" rIns="0" bIns="0" rtlCol="0" anchor="t"/>
          <a:lstStyle/>
          <a:p>
            <a:pPr marL="0" indent="0">
              <a:buNone/>
            </a:pPr>
            <a:r>
              <a:rPr lang="en-US" sz="1200" dirty="0">
                <a:solidFill>
                  <a:srgbClr val="0B2E33"/>
                </a:solidFill>
                <a:latin typeface="Calibri" pitchFamily="34" charset="0"/>
                <a:ea typeface="Calibri" pitchFamily="34" charset="-122"/>
                <a:cs typeface="Calibri" pitchFamily="34" charset="-120"/>
              </a:rPr>
              <a:t>Sales (TP)</a:t>
            </a:r>
            <a:endParaRPr lang="en-US" sz="1200" dirty="0"/>
          </a:p>
        </p:txBody>
      </p:sp>
      <p:sp>
        <p:nvSpPr>
          <p:cNvPr id="13" name="Shape 10"/>
          <p:cNvSpPr/>
          <p:nvPr/>
        </p:nvSpPr>
        <p:spPr>
          <a:xfrm>
            <a:off x="3200400" y="1645920"/>
            <a:ext cx="1828800" cy="1234440"/>
          </a:xfrm>
          <a:prstGeom prst="roundRect">
            <a:avLst>
              <a:gd name="adj" fmla="val 5926"/>
            </a:avLst>
          </a:prstGeom>
          <a:solidFill>
            <a:srgbClr val="D5E3E2"/>
          </a:solidFill>
          <a:ln w="12700">
            <a:solidFill>
              <a:srgbClr val="D5E3E2"/>
            </a:solidFill>
            <a:prstDash val="solid"/>
          </a:ln>
        </p:spPr>
        <p:txBody>
          <a:bodyPr/>
          <a:lstStyle/>
          <a:p>
            <a:endParaRPr lang="en-PH"/>
          </a:p>
        </p:txBody>
      </p:sp>
      <p:sp>
        <p:nvSpPr>
          <p:cNvPr id="14" name="Text 11"/>
          <p:cNvSpPr txBox="1"/>
          <p:nvPr/>
        </p:nvSpPr>
        <p:spPr>
          <a:xfrm>
            <a:off x="3337560" y="1783080"/>
            <a:ext cx="1554480" cy="594360"/>
          </a:xfrm>
          <a:prstGeom prst="rect">
            <a:avLst/>
          </a:prstGeom>
          <a:noFill/>
          <a:ln/>
        </p:spPr>
        <p:txBody>
          <a:bodyPr wrap="square" lIns="0" tIns="0" rIns="0" bIns="0" rtlCol="0" anchor="t"/>
          <a:lstStyle/>
          <a:p>
            <a:pPr marL="0" indent="0">
              <a:buNone/>
            </a:pPr>
            <a:r>
              <a:rPr lang="en-US" sz="3000" b="1" dirty="0">
                <a:solidFill>
                  <a:srgbClr val="0B2E33"/>
                </a:solidFill>
                <a:latin typeface="Calibri" pitchFamily="34" charset="0"/>
                <a:ea typeface="Calibri" pitchFamily="34" charset="-122"/>
                <a:cs typeface="Calibri" pitchFamily="34" charset="-120"/>
              </a:rPr>
              <a:t>563</a:t>
            </a:r>
            <a:endParaRPr lang="en-US" sz="3000" dirty="0"/>
          </a:p>
        </p:txBody>
      </p:sp>
      <p:sp>
        <p:nvSpPr>
          <p:cNvPr id="15" name="Text 12"/>
          <p:cNvSpPr txBox="1"/>
          <p:nvPr/>
        </p:nvSpPr>
        <p:spPr>
          <a:xfrm>
            <a:off x="3337560" y="2423160"/>
            <a:ext cx="1554480" cy="365760"/>
          </a:xfrm>
          <a:prstGeom prst="rect">
            <a:avLst/>
          </a:prstGeom>
          <a:noFill/>
          <a:ln/>
        </p:spPr>
        <p:txBody>
          <a:bodyPr wrap="square" lIns="0" tIns="0" rIns="0" bIns="0" rtlCol="0" anchor="t"/>
          <a:lstStyle/>
          <a:p>
            <a:pPr marL="0" indent="0">
              <a:buNone/>
            </a:pPr>
            <a:r>
              <a:rPr lang="en-US" sz="1200" dirty="0">
                <a:solidFill>
                  <a:srgbClr val="0B2E33"/>
                </a:solidFill>
                <a:latin typeface="Calibri" pitchFamily="34" charset="0"/>
                <a:ea typeface="Calibri" pitchFamily="34" charset="-122"/>
                <a:cs typeface="Calibri" pitchFamily="34" charset="-120"/>
              </a:rPr>
              <a:t>Missed buyers (FN)</a:t>
            </a:r>
            <a:endParaRPr lang="en-US" sz="1200" dirty="0"/>
          </a:p>
        </p:txBody>
      </p:sp>
      <p:sp>
        <p:nvSpPr>
          <p:cNvPr id="16" name="Shape 13"/>
          <p:cNvSpPr/>
          <p:nvPr/>
        </p:nvSpPr>
        <p:spPr>
          <a:xfrm>
            <a:off x="1280160" y="2971800"/>
            <a:ext cx="1828800" cy="1234440"/>
          </a:xfrm>
          <a:prstGeom prst="roundRect">
            <a:avLst>
              <a:gd name="adj" fmla="val 5926"/>
            </a:avLst>
          </a:prstGeom>
          <a:solidFill>
            <a:srgbClr val="D5E3E2"/>
          </a:solidFill>
          <a:ln w="12700">
            <a:solidFill>
              <a:srgbClr val="D5E3E2"/>
            </a:solidFill>
            <a:prstDash val="solid"/>
          </a:ln>
        </p:spPr>
        <p:txBody>
          <a:bodyPr/>
          <a:lstStyle/>
          <a:p>
            <a:endParaRPr lang="en-PH"/>
          </a:p>
        </p:txBody>
      </p:sp>
      <p:sp>
        <p:nvSpPr>
          <p:cNvPr id="17" name="Text 14"/>
          <p:cNvSpPr txBox="1"/>
          <p:nvPr/>
        </p:nvSpPr>
        <p:spPr>
          <a:xfrm>
            <a:off x="1417320" y="3108960"/>
            <a:ext cx="1554480" cy="594360"/>
          </a:xfrm>
          <a:prstGeom prst="rect">
            <a:avLst/>
          </a:prstGeom>
          <a:noFill/>
          <a:ln/>
        </p:spPr>
        <p:txBody>
          <a:bodyPr wrap="square" lIns="0" tIns="0" rIns="0" bIns="0" rtlCol="0" anchor="t"/>
          <a:lstStyle/>
          <a:p>
            <a:pPr marL="0" indent="0">
              <a:buNone/>
            </a:pPr>
            <a:r>
              <a:rPr lang="en-US" sz="3000" b="1" dirty="0">
                <a:solidFill>
                  <a:srgbClr val="0B2E33"/>
                </a:solidFill>
                <a:latin typeface="Calibri" pitchFamily="34" charset="0"/>
                <a:ea typeface="Calibri" pitchFamily="34" charset="-122"/>
                <a:cs typeface="Calibri" pitchFamily="34" charset="-120"/>
              </a:rPr>
              <a:t>728</a:t>
            </a:r>
            <a:endParaRPr lang="en-US" sz="3000" dirty="0"/>
          </a:p>
        </p:txBody>
      </p:sp>
      <p:sp>
        <p:nvSpPr>
          <p:cNvPr id="18" name="Text 15"/>
          <p:cNvSpPr txBox="1"/>
          <p:nvPr/>
        </p:nvSpPr>
        <p:spPr>
          <a:xfrm>
            <a:off x="1417320" y="3749040"/>
            <a:ext cx="1554480" cy="365760"/>
          </a:xfrm>
          <a:prstGeom prst="rect">
            <a:avLst/>
          </a:prstGeom>
          <a:noFill/>
          <a:ln/>
        </p:spPr>
        <p:txBody>
          <a:bodyPr wrap="square" lIns="0" tIns="0" rIns="0" bIns="0" rtlCol="0" anchor="t"/>
          <a:lstStyle/>
          <a:p>
            <a:pPr marL="0" indent="0">
              <a:buNone/>
            </a:pPr>
            <a:r>
              <a:rPr lang="en-US" sz="1200" dirty="0">
                <a:solidFill>
                  <a:srgbClr val="0B2E33"/>
                </a:solidFill>
                <a:latin typeface="Calibri" pitchFamily="34" charset="0"/>
                <a:ea typeface="Calibri" pitchFamily="34" charset="-122"/>
                <a:cs typeface="Calibri" pitchFamily="34" charset="-120"/>
              </a:rPr>
              <a:t>Wasted calls (FP)</a:t>
            </a:r>
            <a:endParaRPr lang="en-US" sz="1200" dirty="0"/>
          </a:p>
        </p:txBody>
      </p:sp>
      <p:sp>
        <p:nvSpPr>
          <p:cNvPr id="19" name="Shape 16"/>
          <p:cNvSpPr/>
          <p:nvPr/>
        </p:nvSpPr>
        <p:spPr>
          <a:xfrm>
            <a:off x="3200400" y="2971800"/>
            <a:ext cx="1828800" cy="1234440"/>
          </a:xfrm>
          <a:prstGeom prst="roundRect">
            <a:avLst>
              <a:gd name="adj" fmla="val 5926"/>
            </a:avLst>
          </a:prstGeom>
          <a:solidFill>
            <a:srgbClr val="E8F7F6"/>
          </a:solidFill>
          <a:ln w="12700">
            <a:solidFill>
              <a:srgbClr val="E8F7F6"/>
            </a:solidFill>
            <a:prstDash val="solid"/>
          </a:ln>
        </p:spPr>
        <p:txBody>
          <a:bodyPr/>
          <a:lstStyle/>
          <a:p>
            <a:endParaRPr lang="en-PH"/>
          </a:p>
        </p:txBody>
      </p:sp>
      <p:sp>
        <p:nvSpPr>
          <p:cNvPr id="20" name="Text 17"/>
          <p:cNvSpPr txBox="1"/>
          <p:nvPr/>
        </p:nvSpPr>
        <p:spPr>
          <a:xfrm>
            <a:off x="3337560" y="3108960"/>
            <a:ext cx="1554480" cy="594360"/>
          </a:xfrm>
          <a:prstGeom prst="rect">
            <a:avLst/>
          </a:prstGeom>
          <a:noFill/>
          <a:ln/>
        </p:spPr>
        <p:txBody>
          <a:bodyPr wrap="square" lIns="0" tIns="0" rIns="0" bIns="0" rtlCol="0" anchor="t"/>
          <a:lstStyle/>
          <a:p>
            <a:pPr marL="0" indent="0">
              <a:buNone/>
            </a:pPr>
            <a:r>
              <a:rPr lang="en-US" sz="3000" b="1" dirty="0">
                <a:solidFill>
                  <a:srgbClr val="0B2E33"/>
                </a:solidFill>
                <a:latin typeface="Calibri" pitchFamily="34" charset="0"/>
                <a:ea typeface="Calibri" pitchFamily="34" charset="-122"/>
                <a:cs typeface="Calibri" pitchFamily="34" charset="-120"/>
              </a:rPr>
              <a:t>8,590</a:t>
            </a:r>
            <a:endParaRPr lang="en-US" sz="3000" dirty="0"/>
          </a:p>
        </p:txBody>
      </p:sp>
      <p:sp>
        <p:nvSpPr>
          <p:cNvPr id="21" name="Text 18"/>
          <p:cNvSpPr txBox="1"/>
          <p:nvPr/>
        </p:nvSpPr>
        <p:spPr>
          <a:xfrm>
            <a:off x="3337560" y="3749040"/>
            <a:ext cx="1554480" cy="365760"/>
          </a:xfrm>
          <a:prstGeom prst="rect">
            <a:avLst/>
          </a:prstGeom>
          <a:noFill/>
          <a:ln/>
        </p:spPr>
        <p:txBody>
          <a:bodyPr wrap="square" lIns="0" tIns="0" rIns="0" bIns="0" rtlCol="0" anchor="t"/>
          <a:lstStyle/>
          <a:p>
            <a:pPr marL="0" indent="0">
              <a:buNone/>
            </a:pPr>
            <a:r>
              <a:rPr lang="en-US" sz="1200" dirty="0">
                <a:solidFill>
                  <a:srgbClr val="0B2E33"/>
                </a:solidFill>
                <a:latin typeface="Calibri" pitchFamily="34" charset="0"/>
                <a:ea typeface="Calibri" pitchFamily="34" charset="-122"/>
                <a:cs typeface="Calibri" pitchFamily="34" charset="-120"/>
              </a:rPr>
              <a:t>Not called (TN)</a:t>
            </a:r>
            <a:endParaRPr lang="en-US" sz="1200" dirty="0"/>
          </a:p>
        </p:txBody>
      </p:sp>
      <p:sp>
        <p:nvSpPr>
          <p:cNvPr id="22" name="Text 19"/>
          <p:cNvSpPr txBox="1"/>
          <p:nvPr/>
        </p:nvSpPr>
        <p:spPr>
          <a:xfrm>
            <a:off x="5577840" y="1371600"/>
            <a:ext cx="1463040" cy="640080"/>
          </a:xfrm>
          <a:prstGeom prst="rect">
            <a:avLst/>
          </a:prstGeom>
          <a:noFill/>
          <a:ln/>
        </p:spPr>
        <p:txBody>
          <a:bodyPr wrap="square" lIns="0" tIns="0" rIns="0" bIns="0" rtlCol="0" anchor="t"/>
          <a:lstStyle/>
          <a:p>
            <a:pPr marL="0" indent="0">
              <a:buNone/>
            </a:pPr>
            <a:r>
              <a:rPr lang="en-US" sz="4000" b="1" dirty="0">
                <a:solidFill>
                  <a:srgbClr val="0B2E33"/>
                </a:solidFill>
                <a:latin typeface="Calibri" pitchFamily="34" charset="0"/>
                <a:ea typeface="Calibri" pitchFamily="34" charset="-122"/>
                <a:cs typeface="Calibri" pitchFamily="34" charset="-120"/>
              </a:rPr>
              <a:t>0.46</a:t>
            </a:r>
            <a:endParaRPr lang="en-US" sz="4000" dirty="0"/>
          </a:p>
        </p:txBody>
      </p:sp>
      <p:sp>
        <p:nvSpPr>
          <p:cNvPr id="23" name="Text 20"/>
          <p:cNvSpPr txBox="1"/>
          <p:nvPr/>
        </p:nvSpPr>
        <p:spPr>
          <a:xfrm>
            <a:off x="5577840" y="2029968"/>
            <a:ext cx="1463040" cy="45720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precision: calls that sell</a:t>
            </a:r>
            <a:endParaRPr lang="en-US" sz="1300" dirty="0"/>
          </a:p>
        </p:txBody>
      </p:sp>
      <p:sp>
        <p:nvSpPr>
          <p:cNvPr id="24" name="Text 21"/>
          <p:cNvSpPr txBox="1"/>
          <p:nvPr/>
        </p:nvSpPr>
        <p:spPr>
          <a:xfrm>
            <a:off x="7223760" y="1371600"/>
            <a:ext cx="1463040" cy="640080"/>
          </a:xfrm>
          <a:prstGeom prst="rect">
            <a:avLst/>
          </a:prstGeom>
          <a:noFill/>
          <a:ln/>
        </p:spPr>
        <p:txBody>
          <a:bodyPr wrap="square" lIns="0" tIns="0" rIns="0" bIns="0" rtlCol="0" anchor="t"/>
          <a:lstStyle/>
          <a:p>
            <a:pPr marL="0" indent="0">
              <a:buNone/>
            </a:pPr>
            <a:r>
              <a:rPr lang="en-US" sz="4000" b="1" dirty="0">
                <a:solidFill>
                  <a:srgbClr val="0B2E33"/>
                </a:solidFill>
                <a:latin typeface="Calibri" pitchFamily="34" charset="0"/>
                <a:ea typeface="Calibri" pitchFamily="34" charset="-122"/>
                <a:cs typeface="Calibri" pitchFamily="34" charset="-120"/>
              </a:rPr>
              <a:t>0.52</a:t>
            </a:r>
            <a:endParaRPr lang="en-US" sz="4000" dirty="0"/>
          </a:p>
        </p:txBody>
      </p:sp>
      <p:sp>
        <p:nvSpPr>
          <p:cNvPr id="25" name="Text 22"/>
          <p:cNvSpPr txBox="1"/>
          <p:nvPr/>
        </p:nvSpPr>
        <p:spPr>
          <a:xfrm>
            <a:off x="7223760" y="2029968"/>
            <a:ext cx="1463040" cy="45720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recall: buyers reached</a:t>
            </a:r>
            <a:endParaRPr lang="en-US" sz="1300" dirty="0"/>
          </a:p>
        </p:txBody>
      </p:sp>
      <p:sp>
        <p:nvSpPr>
          <p:cNvPr id="26" name="Text 23"/>
          <p:cNvSpPr txBox="1"/>
          <p:nvPr/>
        </p:nvSpPr>
        <p:spPr>
          <a:xfrm>
            <a:off x="5577840" y="2651760"/>
            <a:ext cx="1463040" cy="640080"/>
          </a:xfrm>
          <a:prstGeom prst="rect">
            <a:avLst/>
          </a:prstGeom>
          <a:noFill/>
          <a:ln/>
        </p:spPr>
        <p:txBody>
          <a:bodyPr wrap="square" lIns="0" tIns="0" rIns="0" bIns="0" rtlCol="0" anchor="t"/>
          <a:lstStyle/>
          <a:p>
            <a:pPr marL="0" indent="0">
              <a:buNone/>
            </a:pPr>
            <a:r>
              <a:rPr lang="en-US" sz="4000" b="1" dirty="0">
                <a:solidFill>
                  <a:srgbClr val="0B2E33"/>
                </a:solidFill>
                <a:latin typeface="Calibri" pitchFamily="34" charset="0"/>
                <a:ea typeface="Calibri" pitchFamily="34" charset="-122"/>
                <a:cs typeface="Calibri" pitchFamily="34" charset="-120"/>
              </a:rPr>
              <a:t>87.7%</a:t>
            </a:r>
            <a:endParaRPr lang="en-US" sz="4000" dirty="0"/>
          </a:p>
        </p:txBody>
      </p:sp>
      <p:sp>
        <p:nvSpPr>
          <p:cNvPr id="27" name="Text 24"/>
          <p:cNvSpPr txBox="1"/>
          <p:nvPr/>
        </p:nvSpPr>
        <p:spPr>
          <a:xfrm>
            <a:off x="5577840" y="3310128"/>
            <a:ext cx="1463040" cy="45720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accuracy</a:t>
            </a:r>
            <a:endParaRPr lang="en-US" sz="1300" dirty="0"/>
          </a:p>
        </p:txBody>
      </p:sp>
      <p:sp>
        <p:nvSpPr>
          <p:cNvPr id="28" name="Text 25"/>
          <p:cNvSpPr txBox="1"/>
          <p:nvPr/>
        </p:nvSpPr>
        <p:spPr>
          <a:xfrm>
            <a:off x="7223760" y="2651760"/>
            <a:ext cx="1463040" cy="640080"/>
          </a:xfrm>
          <a:prstGeom prst="rect">
            <a:avLst/>
          </a:prstGeom>
          <a:noFill/>
          <a:ln/>
        </p:spPr>
        <p:txBody>
          <a:bodyPr wrap="square" lIns="0" tIns="0" rIns="0" bIns="0" rtlCol="0" anchor="t"/>
          <a:lstStyle/>
          <a:p>
            <a:pPr marL="0" indent="0">
              <a:buNone/>
            </a:pPr>
            <a:r>
              <a:rPr lang="en-US" sz="4000" b="1" dirty="0">
                <a:solidFill>
                  <a:srgbClr val="E8604C"/>
                </a:solidFill>
                <a:latin typeface="Calibri" pitchFamily="34" charset="0"/>
                <a:ea typeface="Calibri" pitchFamily="34" charset="-122"/>
                <a:cs typeface="Calibri" pitchFamily="34" charset="-120"/>
              </a:rPr>
              <a:t>88.8%</a:t>
            </a:r>
            <a:endParaRPr lang="en-US" sz="4000" dirty="0"/>
          </a:p>
        </p:txBody>
      </p:sp>
      <p:sp>
        <p:nvSpPr>
          <p:cNvPr id="29" name="Text 26"/>
          <p:cNvSpPr txBox="1"/>
          <p:nvPr/>
        </p:nvSpPr>
        <p:spPr>
          <a:xfrm>
            <a:off x="7223760" y="3310128"/>
            <a:ext cx="1463040" cy="45720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"never call" accuracy</a:t>
            </a:r>
            <a:endParaRPr lang="en-US" sz="1300" dirty="0"/>
          </a:p>
        </p:txBody>
      </p:sp>
      <p:sp>
        <p:nvSpPr>
          <p:cNvPr id="30" name="Text 27"/>
          <p:cNvSpPr txBox="1"/>
          <p:nvPr/>
        </p:nvSpPr>
        <p:spPr>
          <a:xfrm>
            <a:off x="5577840" y="3977640"/>
            <a:ext cx="3108960" cy="54864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Accuracy is below doing nothing, yet the model makes money.</a:t>
            </a:r>
            <a:endParaRPr lang="en-US" sz="1300" dirty="0"/>
          </a:p>
        </p:txBody>
      </p:sp>
      <p:sp>
        <p:nvSpPr>
          <p:cNvPr id="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E"/>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256032"/>
            <a:ext cx="571500" cy="256032"/>
          </a:xfrm>
          <a:prstGeom prst="roundRect">
            <a:avLst>
              <a:gd name="adj" fmla="val 50000"/>
            </a:avLst>
          </a:prstGeom>
          <a:solidFill>
            <a:srgbClr val="00BFB3"/>
          </a:solidFill>
          <a:ln w="12700">
            <a:solidFill>
              <a:srgbClr val="00BFB3"/>
            </a:solidFill>
            <a:prstDash val="solid"/>
          </a:ln>
        </p:spPr>
        <p:txBody>
          <a:bodyPr/>
          <a:lstStyle/>
          <a:p>
            <a:endParaRPr lang="en-PH"/>
          </a:p>
        </p:txBody>
      </p:sp>
      <p:sp>
        <p:nvSpPr>
          <p:cNvPr id="3" name="Text 1"/>
          <p:cNvSpPr txBox="1"/>
          <p:nvPr/>
        </p:nvSpPr>
        <p:spPr>
          <a:xfrm>
            <a:off x="457200" y="256032"/>
            <a:ext cx="571500" cy="256032"/>
          </a:xfrm>
          <a:prstGeom prst="rect">
            <a:avLst/>
          </a:prstGeom>
          <a:noFill/>
          <a:ln/>
        </p:spPr>
        <p:txBody>
          <a:bodyPr wrap="square" lIns="0" tIns="0" rIns="0" bIns="0" rtlCol="0" anchor="ctr"/>
          <a:lstStyle/>
          <a:p>
            <a:pPr marL="0" indent="0" algn="ctr">
              <a:buNone/>
            </a:pPr>
            <a:r>
              <a:rPr lang="en-US" sz="1100" b="1" dirty="0">
                <a:solidFill>
                  <a:srgbClr val="0B2E33"/>
                </a:solidFill>
                <a:latin typeface="Calibri" pitchFamily="34" charset="0"/>
                <a:ea typeface="Calibri" pitchFamily="34" charset="-122"/>
                <a:cs typeface="Calibri" pitchFamily="34" charset="-120"/>
              </a:rPr>
              <a:t>BONUS</a:t>
            </a:r>
            <a:endParaRPr lang="en-US" sz="1100" dirty="0"/>
          </a:p>
        </p:txBody>
      </p:sp>
      <p:sp>
        <p:nvSpPr>
          <p:cNvPr id="4" name="Text 0"/>
          <p:cNvSpPr>
            <a:spLocks noGrp="1"/>
          </p:cNvSpPr>
          <p:nvPr>
            <p:ph type="title" idx="100" hasCustomPrompt="1"/>
          </p:nvPr>
        </p:nvSpPr>
        <p:spPr>
          <a:xfrm>
            <a:off x="457200" y="566928"/>
            <a:ext cx="8229600" cy="594360"/>
          </a:xfrm>
          <a:prstGeom prst="rect">
            <a:avLst/>
          </a:prstGeom>
          <a:noFill/>
          <a:ln/>
        </p:spPr>
        <p:txBody>
          <a:bodyPr wrap="square" lIns="0" tIns="0" rIns="0" bIns="0" rtlCol="0" anchor="t"/>
          <a:lstStyle/>
          <a:p>
            <a:pPr marL="0" indent="0" algn="l">
              <a:buNone/>
            </a:pPr>
            <a:r>
              <a:rPr lang="en-US" sz="2800" b="1" dirty="0">
                <a:solidFill>
                  <a:srgbClr val="0B2E33"/>
                </a:solidFill>
                <a:latin typeface="Calibri" pitchFamily="34" charset="0"/>
                <a:ea typeface="Calibri" pitchFamily="34" charset="-122"/>
                <a:cs typeface="Calibri" pitchFamily="34" charset="-120"/>
              </a:rPr>
              <a:t>Expected profit is 379k; 745k is lost to misclassification</a:t>
            </a:r>
            <a:endParaRPr lang="en-US" sz="2800" dirty="0"/>
          </a:p>
        </p:txBody>
      </p:sp>
      <p:sp>
        <p:nvSpPr>
          <p:cNvPr id="6" name="card"/>
          <p:cNvSpPr/>
          <p:nvPr/>
        </p:nvSpPr>
        <p:spPr>
          <a:xfrm>
            <a:off x="457200" y="1371600"/>
            <a:ext cx="2743200" cy="1417320"/>
          </a:xfrm>
          <a:prstGeom prst="roundRect">
            <a:avLst>
              <a:gd name="adj" fmla="val 5161"/>
            </a:avLst>
          </a:prstGeom>
          <a:solidFill>
            <a:srgbClr val="E8F7F6"/>
          </a:solidFill>
          <a:ln w="12700">
            <a:solidFill>
              <a:srgbClr val="E8F7F6"/>
            </a:solidFill>
            <a:prstDash val="solid"/>
          </a:ln>
        </p:spPr>
        <p:txBody>
          <a:bodyPr/>
          <a:lstStyle/>
          <a:p>
            <a:endParaRPr lang="en-PH"/>
          </a:p>
        </p:txBody>
      </p:sp>
      <p:sp>
        <p:nvSpPr>
          <p:cNvPr id="7" name="Text 4"/>
          <p:cNvSpPr txBox="1"/>
          <p:nvPr/>
        </p:nvSpPr>
        <p:spPr>
          <a:xfrm>
            <a:off x="640080" y="1481328"/>
            <a:ext cx="2377440" cy="27432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(a) Expected net profit</a:t>
            </a:r>
            <a:endParaRPr lang="en-US" sz="1300" dirty="0"/>
          </a:p>
        </p:txBody>
      </p:sp>
      <p:sp>
        <p:nvSpPr>
          <p:cNvPr id="8" name="Text 5"/>
          <p:cNvSpPr txBox="1"/>
          <p:nvPr/>
        </p:nvSpPr>
        <p:spPr>
          <a:xfrm>
            <a:off x="640080" y="1783080"/>
            <a:ext cx="2377440" cy="640080"/>
          </a:xfrm>
          <a:prstGeom prst="rect">
            <a:avLst/>
          </a:prstGeom>
          <a:noFill/>
          <a:ln/>
        </p:spPr>
        <p:txBody>
          <a:bodyPr wrap="square" lIns="0" tIns="0" rIns="0" bIns="0" rtlCol="0" anchor="t"/>
          <a:lstStyle/>
          <a:p>
            <a:pPr marL="0" indent="0">
              <a:buNone/>
            </a:pPr>
            <a:r>
              <a:rPr lang="en-US" sz="3600" b="1" dirty="0">
                <a:solidFill>
                  <a:srgbClr val="008C83"/>
                </a:solidFill>
                <a:latin typeface="Calibri" pitchFamily="34" charset="0"/>
                <a:ea typeface="Calibri" pitchFamily="34" charset="-122"/>
                <a:cs typeface="Calibri" pitchFamily="34" charset="-120"/>
              </a:rPr>
              <a:t>379,362</a:t>
            </a:r>
            <a:endParaRPr lang="en-US" sz="3600" dirty="0"/>
          </a:p>
        </p:txBody>
      </p:sp>
      <p:sp>
        <p:nvSpPr>
          <p:cNvPr id="9" name="Text 6"/>
          <p:cNvSpPr txBox="1"/>
          <p:nvPr/>
        </p:nvSpPr>
        <p:spPr>
          <a:xfrm>
            <a:off x="640080" y="2450592"/>
            <a:ext cx="2377440" cy="274320"/>
          </a:xfrm>
          <a:prstGeom prst="rect">
            <a:avLst/>
          </a:prstGeom>
          <a:noFill/>
          <a:ln/>
        </p:spPr>
        <p:txBody>
          <a:bodyPr wrap="square" lIns="0" tIns="0" rIns="0" bIns="0" rtlCol="0" anchor="t"/>
          <a:lstStyle/>
          <a:p>
            <a:pPr marL="0" indent="0">
              <a:buNone/>
            </a:pPr>
            <a:r>
              <a:rPr lang="en-US" sz="1200" dirty="0">
                <a:solidFill>
                  <a:srgbClr val="5B6B6E"/>
                </a:solidFill>
                <a:latin typeface="Calibri" pitchFamily="34" charset="0"/>
                <a:ea typeface="Calibri" pitchFamily="34" charset="-122"/>
                <a:cs typeface="Calibri" pitchFamily="34" charset="-120"/>
              </a:rPr>
              <a:t>95% interval ≈ 331k – 428k</a:t>
            </a:r>
            <a:endParaRPr lang="en-US" sz="1200" dirty="0"/>
          </a:p>
        </p:txBody>
      </p:sp>
      <p:sp>
        <p:nvSpPr>
          <p:cNvPr id="10" name="card"/>
          <p:cNvSpPr/>
          <p:nvPr/>
        </p:nvSpPr>
        <p:spPr>
          <a:xfrm>
            <a:off x="457200" y="2971800"/>
            <a:ext cx="2743200" cy="1463040"/>
          </a:xfrm>
          <a:prstGeom prst="roundRect">
            <a:avLst>
              <a:gd name="adj" fmla="val 5000"/>
            </a:avLst>
          </a:prstGeom>
          <a:solidFill>
            <a:srgbClr val="E8F7F6"/>
          </a:solidFill>
          <a:ln w="12700">
            <a:solidFill>
              <a:srgbClr val="E8F7F6"/>
            </a:solidFill>
            <a:prstDash val="solid"/>
          </a:ln>
        </p:spPr>
        <p:txBody>
          <a:bodyPr/>
          <a:lstStyle/>
          <a:p>
            <a:endParaRPr lang="en-PH"/>
          </a:p>
        </p:txBody>
      </p:sp>
      <p:sp>
        <p:nvSpPr>
          <p:cNvPr id="11" name="Text 8"/>
          <p:cNvSpPr txBox="1"/>
          <p:nvPr/>
        </p:nvSpPr>
        <p:spPr>
          <a:xfrm>
            <a:off x="640080" y="3081528"/>
            <a:ext cx="2468880" cy="27432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(b) Lost to misclassification</a:t>
            </a:r>
            <a:endParaRPr lang="en-US" sz="1300" dirty="0"/>
          </a:p>
        </p:txBody>
      </p:sp>
      <p:sp>
        <p:nvSpPr>
          <p:cNvPr id="12" name="Text 9"/>
          <p:cNvSpPr txBox="1"/>
          <p:nvPr/>
        </p:nvSpPr>
        <p:spPr>
          <a:xfrm>
            <a:off x="640080" y="3383280"/>
            <a:ext cx="2377440" cy="640080"/>
          </a:xfrm>
          <a:prstGeom prst="rect">
            <a:avLst/>
          </a:prstGeom>
          <a:noFill/>
          <a:ln/>
        </p:spPr>
        <p:txBody>
          <a:bodyPr wrap="square" lIns="0" tIns="0" rIns="0" bIns="0" rtlCol="0" anchor="t"/>
          <a:lstStyle/>
          <a:p>
            <a:pPr marL="0" indent="0">
              <a:buNone/>
            </a:pPr>
            <a:r>
              <a:rPr lang="en-US" sz="3600" b="1" dirty="0">
                <a:solidFill>
                  <a:srgbClr val="E8604C"/>
                </a:solidFill>
                <a:latin typeface="Calibri" pitchFamily="34" charset="0"/>
                <a:ea typeface="Calibri" pitchFamily="34" charset="-122"/>
                <a:cs typeface="Calibri" pitchFamily="34" charset="-120"/>
              </a:rPr>
              <a:t>744,940</a:t>
            </a:r>
            <a:endParaRPr lang="en-US" sz="3600" dirty="0"/>
          </a:p>
        </p:txBody>
      </p:sp>
      <p:sp>
        <p:nvSpPr>
          <p:cNvPr id="13" name="Text 10"/>
          <p:cNvSpPr txBox="1"/>
          <p:nvPr/>
        </p:nvSpPr>
        <p:spPr>
          <a:xfrm>
            <a:off x="640080" y="3898900"/>
            <a:ext cx="2468880" cy="490220"/>
          </a:xfrm>
          <a:prstGeom prst="rect">
            <a:avLst/>
          </a:prstGeom>
          <a:noFill/>
          <a:ln/>
        </p:spPr>
        <p:txBody>
          <a:bodyPr wrap="square" lIns="0" tIns="0" rIns="0" bIns="0" rtlCol="0" anchor="t"/>
          <a:lstStyle/>
          <a:p>
            <a:pPr marL="0" indent="0">
              <a:buNone/>
            </a:pPr>
            <a:r>
              <a:rPr lang="en-US" sz="1200" dirty="0">
                <a:solidFill>
                  <a:srgbClr val="5B6B6E"/>
                </a:solidFill>
                <a:latin typeface="Calibri" pitchFamily="34" charset="0"/>
                <a:ea typeface="Calibri" pitchFamily="34" charset="-122"/>
                <a:cs typeface="Calibri" pitchFamily="34" charset="-120"/>
              </a:rPr>
              <a:t>536,880  in forgone profit form missed buyers + 208,059 wasted calls from non-responders</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474720" y="1371600"/>
          <a:ext cx="5212080" cy="2286000"/>
        </p:xfrm>
        <a:graphic>
          <a:graphicData uri="http://schemas.openxmlformats.org/drawingml/2006/table">
            <a:tbl>
              <a:tblPr/>
              <a:tblGrid>
                <a:gridCol w="13716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4572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Risk band</a:t>
                      </a:r>
                      <a:endParaRPr lang="en-US" sz="12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2E33"/>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Sales</a:t>
                      </a:r>
                      <a:endParaRPr lang="en-US" sz="12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2E33"/>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Wasted calls</a:t>
                      </a:r>
                      <a:endParaRPr lang="en-US" sz="12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2E33"/>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Net profit</a:t>
                      </a:r>
                      <a:endParaRPr lang="en-US" sz="12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2E33"/>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Missed buyers</a:t>
                      </a:r>
                      <a:endParaRPr lang="en-US" sz="12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2E33"/>
                    </a:solidFill>
                  </a:tcPr>
                </a:tc>
                <a:extLst>
                  <a:ext uri="{0D108BD9-81ED-4DB2-BD59-A6C34878D82A}">
                    <a16:rowId xmlns:a16="http://schemas.microsoft.com/office/drawing/2014/main" val="10000"/>
                  </a:ext>
                </a:extLst>
              </a:tr>
              <a:tr h="457200">
                <a:tc>
                  <a:txBody>
                    <a:bodyPr/>
                    <a:lstStyle/>
                    <a:p>
                      <a:pPr marL="0" indent="0" algn="l">
                        <a:buNone/>
                      </a:pPr>
                      <a:r>
                        <a:rPr lang="en-US" sz="1300" dirty="0">
                          <a:solidFill>
                            <a:srgbClr val="0B2E33"/>
                          </a:solidFill>
                          <a:latin typeface="Calibri" pitchFamily="34" charset="0"/>
                          <a:ea typeface="Calibri" pitchFamily="34" charset="-122"/>
                          <a:cs typeface="Calibri" pitchFamily="34" charset="-120"/>
                        </a:rPr>
                        <a:t>High (10%)</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300" dirty="0">
                          <a:solidFill>
                            <a:srgbClr val="0B2E33"/>
                          </a:solidFill>
                          <a:latin typeface="Calibri" pitchFamily="34" charset="0"/>
                          <a:ea typeface="Calibri" pitchFamily="34" charset="-122"/>
                          <a:cs typeface="Calibri" pitchFamily="34" charset="-120"/>
                        </a:rPr>
                        <a:t>58.7</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300" dirty="0">
                          <a:solidFill>
                            <a:srgbClr val="0B2E33"/>
                          </a:solidFill>
                          <a:latin typeface="Calibri" pitchFamily="34" charset="0"/>
                          <a:ea typeface="Calibri" pitchFamily="34" charset="-122"/>
                          <a:cs typeface="Calibri" pitchFamily="34" charset="-120"/>
                        </a:rPr>
                        <a:t>69.4</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300" dirty="0">
                          <a:solidFill>
                            <a:srgbClr val="0B2E33"/>
                          </a:solidFill>
                          <a:latin typeface="Calibri" pitchFamily="34" charset="0"/>
                          <a:ea typeface="Calibri" pitchFamily="34" charset="-122"/>
                          <a:cs typeface="Calibri" pitchFamily="34" charset="-120"/>
                        </a:rPr>
                        <a:t>-4,081</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300" dirty="0">
                          <a:solidFill>
                            <a:srgbClr val="0B2E33"/>
                          </a:solidFill>
                          <a:latin typeface="Calibri" pitchFamily="34" charset="0"/>
                          <a:ea typeface="Calibri" pitchFamily="34" charset="-122"/>
                          <a:cs typeface="Calibri" pitchFamily="34" charset="-120"/>
                        </a:rPr>
                        <a:t>53.6</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300" dirty="0">
                          <a:solidFill>
                            <a:srgbClr val="0B2E33"/>
                          </a:solidFill>
                          <a:latin typeface="Calibri" pitchFamily="34" charset="0"/>
                          <a:ea typeface="Calibri" pitchFamily="34" charset="-122"/>
                          <a:cs typeface="Calibri" pitchFamily="34" charset="-120"/>
                        </a:rPr>
                        <a:t>Medium (25%)</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8F7F6"/>
                    </a:solidFill>
                  </a:tcPr>
                </a:tc>
                <a:tc>
                  <a:txBody>
                    <a:bodyPr/>
                    <a:lstStyle/>
                    <a:p>
                      <a:pPr marL="0" indent="0" algn="r">
                        <a:buNone/>
                      </a:pPr>
                      <a:r>
                        <a:rPr lang="en-US" sz="1300" dirty="0">
                          <a:solidFill>
                            <a:srgbClr val="0B2E33"/>
                          </a:solidFill>
                          <a:latin typeface="Calibri" pitchFamily="34" charset="0"/>
                          <a:ea typeface="Calibri" pitchFamily="34" charset="-122"/>
                          <a:cs typeface="Calibri" pitchFamily="34" charset="-120"/>
                        </a:rPr>
                        <a:t>146.7</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8F7F6"/>
                    </a:solidFill>
                  </a:tcPr>
                </a:tc>
                <a:tc>
                  <a:txBody>
                    <a:bodyPr/>
                    <a:lstStyle/>
                    <a:p>
                      <a:pPr marL="0" indent="0" algn="r">
                        <a:buNone/>
                      </a:pPr>
                      <a:r>
                        <a:rPr lang="en-US" sz="1300" dirty="0">
                          <a:solidFill>
                            <a:srgbClr val="0B2E33"/>
                          </a:solidFill>
                          <a:latin typeface="Calibri" pitchFamily="34" charset="0"/>
                          <a:ea typeface="Calibri" pitchFamily="34" charset="-122"/>
                          <a:cs typeface="Calibri" pitchFamily="34" charset="-120"/>
                        </a:rPr>
                        <a:t>173.4</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8F7F6"/>
                    </a:solidFill>
                  </a:tcPr>
                </a:tc>
                <a:tc>
                  <a:txBody>
                    <a:bodyPr/>
                    <a:lstStyle/>
                    <a:p>
                      <a:pPr marL="0" indent="0" algn="r">
                        <a:buNone/>
                      </a:pPr>
                      <a:r>
                        <a:rPr lang="en-US" sz="1300" dirty="0">
                          <a:solidFill>
                            <a:srgbClr val="0B2E33"/>
                          </a:solidFill>
                          <a:latin typeface="Calibri" pitchFamily="34" charset="0"/>
                          <a:ea typeface="Calibri" pitchFamily="34" charset="-122"/>
                          <a:cs typeface="Calibri" pitchFamily="34" charset="-120"/>
                        </a:rPr>
                        <a:t>51,415</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8F7F6"/>
                    </a:solidFill>
                  </a:tcPr>
                </a:tc>
                <a:tc>
                  <a:txBody>
                    <a:bodyPr/>
                    <a:lstStyle/>
                    <a:p>
                      <a:pPr marL="0" indent="0" algn="r">
                        <a:buNone/>
                      </a:pPr>
                      <a:r>
                        <a:rPr lang="en-US" sz="1300" dirty="0">
                          <a:solidFill>
                            <a:srgbClr val="0B2E33"/>
                          </a:solidFill>
                          <a:latin typeface="Calibri" pitchFamily="34" charset="0"/>
                          <a:ea typeface="Calibri" pitchFamily="34" charset="-122"/>
                          <a:cs typeface="Calibri" pitchFamily="34" charset="-120"/>
                        </a:rPr>
                        <a:t>134.1</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8F7F6"/>
                    </a:solidFill>
                  </a:tcPr>
                </a:tc>
                <a:extLst>
                  <a:ext uri="{0D108BD9-81ED-4DB2-BD59-A6C34878D82A}">
                    <a16:rowId xmlns:a16="http://schemas.microsoft.com/office/drawing/2014/main" val="10002"/>
                  </a:ext>
                </a:extLst>
              </a:tr>
              <a:tr h="457200">
                <a:tc>
                  <a:txBody>
                    <a:bodyPr/>
                    <a:lstStyle/>
                    <a:p>
                      <a:pPr marL="0" indent="0" algn="l">
                        <a:buNone/>
                      </a:pPr>
                      <a:r>
                        <a:rPr lang="en-US" sz="1300" dirty="0">
                          <a:solidFill>
                            <a:srgbClr val="0B2E33"/>
                          </a:solidFill>
                          <a:latin typeface="Calibri" pitchFamily="34" charset="0"/>
                          <a:ea typeface="Calibri" pitchFamily="34" charset="-122"/>
                          <a:cs typeface="Calibri" pitchFamily="34" charset="-120"/>
                        </a:rPr>
                        <a:t>Low (65%)</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300" dirty="0">
                          <a:solidFill>
                            <a:srgbClr val="0B2E33"/>
                          </a:solidFill>
                          <a:latin typeface="Calibri" pitchFamily="34" charset="0"/>
                          <a:ea typeface="Calibri" pitchFamily="34" charset="-122"/>
                          <a:cs typeface="Calibri" pitchFamily="34" charset="-120"/>
                        </a:rPr>
                        <a:t>381.4</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300" dirty="0">
                          <a:solidFill>
                            <a:srgbClr val="0B2E33"/>
                          </a:solidFill>
                          <a:latin typeface="Calibri" pitchFamily="34" charset="0"/>
                          <a:ea typeface="Calibri" pitchFamily="34" charset="-122"/>
                          <a:cs typeface="Calibri" pitchFamily="34" charset="-120"/>
                        </a:rPr>
                        <a:t>450.8</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300" dirty="0">
                          <a:solidFill>
                            <a:srgbClr val="0B2E33"/>
                          </a:solidFill>
                          <a:latin typeface="Calibri" pitchFamily="34" charset="0"/>
                          <a:ea typeface="Calibri" pitchFamily="34" charset="-122"/>
                          <a:cs typeface="Calibri" pitchFamily="34" charset="-120"/>
                        </a:rPr>
                        <a:t>332,028</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300" dirty="0">
                          <a:solidFill>
                            <a:srgbClr val="0B2E33"/>
                          </a:solidFill>
                          <a:latin typeface="Calibri" pitchFamily="34" charset="0"/>
                          <a:ea typeface="Calibri" pitchFamily="34" charset="-122"/>
                          <a:cs typeface="Calibri" pitchFamily="34" charset="-120"/>
                        </a:rPr>
                        <a:t>348.6</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300" b="1" dirty="0">
                          <a:solidFill>
                            <a:srgbClr val="0B2E33"/>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8F7F6"/>
                    </a:solidFill>
                  </a:tcPr>
                </a:tc>
                <a:tc>
                  <a:txBody>
                    <a:bodyPr/>
                    <a:lstStyle/>
                    <a:p>
                      <a:pPr marL="0" indent="0" algn="r">
                        <a:buNone/>
                      </a:pPr>
                      <a:r>
                        <a:rPr lang="en-US" sz="1300" b="1" dirty="0">
                          <a:solidFill>
                            <a:srgbClr val="0B2E33"/>
                          </a:solidFill>
                          <a:latin typeface="Calibri" pitchFamily="34" charset="0"/>
                          <a:ea typeface="Calibri" pitchFamily="34" charset="-122"/>
                          <a:cs typeface="Calibri" pitchFamily="34" charset="-120"/>
                        </a:rPr>
                        <a:t>586.8</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8F7F6"/>
                    </a:solidFill>
                  </a:tcPr>
                </a:tc>
                <a:tc>
                  <a:txBody>
                    <a:bodyPr/>
                    <a:lstStyle/>
                    <a:p>
                      <a:pPr marL="0" indent="0" algn="r">
                        <a:buNone/>
                      </a:pPr>
                      <a:r>
                        <a:rPr lang="en-US" sz="1300" b="1" dirty="0">
                          <a:solidFill>
                            <a:srgbClr val="0B2E33"/>
                          </a:solidFill>
                          <a:latin typeface="Calibri" pitchFamily="34" charset="0"/>
                          <a:ea typeface="Calibri" pitchFamily="34" charset="-122"/>
                          <a:cs typeface="Calibri" pitchFamily="34" charset="-120"/>
                        </a:rPr>
                        <a:t>693.5</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8F7F6"/>
                    </a:solidFill>
                  </a:tcPr>
                </a:tc>
                <a:tc>
                  <a:txBody>
                    <a:bodyPr/>
                    <a:lstStyle/>
                    <a:p>
                      <a:pPr marL="0" indent="0" algn="r">
                        <a:buNone/>
                      </a:pPr>
                      <a:r>
                        <a:rPr lang="en-US" sz="1300" b="1" dirty="0">
                          <a:solidFill>
                            <a:srgbClr val="0B2E33"/>
                          </a:solidFill>
                          <a:latin typeface="Calibri" pitchFamily="34" charset="0"/>
                          <a:ea typeface="Calibri" pitchFamily="34" charset="-122"/>
                          <a:cs typeface="Calibri" pitchFamily="34" charset="-120"/>
                        </a:rPr>
                        <a:t>379,362</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8F7F6"/>
                    </a:solidFill>
                  </a:tcPr>
                </a:tc>
                <a:tc>
                  <a:txBody>
                    <a:bodyPr/>
                    <a:lstStyle/>
                    <a:p>
                      <a:pPr marL="0" indent="0" algn="r">
                        <a:buNone/>
                      </a:pPr>
                      <a:r>
                        <a:rPr lang="en-US" sz="1300" b="1" dirty="0">
                          <a:solidFill>
                            <a:srgbClr val="0B2E33"/>
                          </a:solidFill>
                          <a:latin typeface="Calibri" pitchFamily="34" charset="0"/>
                          <a:ea typeface="Calibri" pitchFamily="34" charset="-122"/>
                          <a:cs typeface="Calibri" pitchFamily="34" charset="-120"/>
                        </a:rPr>
                        <a:t>536.3</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8F7F6"/>
                    </a:solidFill>
                  </a:tcPr>
                </a:tc>
                <a:extLst>
                  <a:ext uri="{0D108BD9-81ED-4DB2-BD59-A6C34878D82A}">
                    <a16:rowId xmlns:a16="http://schemas.microsoft.com/office/drawing/2014/main" val="10004"/>
                  </a:ext>
                </a:extLst>
              </a:tr>
            </a:tbl>
          </a:graphicData>
        </a:graphic>
      </p:graphicFrame>
      <p:sp>
        <p:nvSpPr>
          <p:cNvPr id="15" name="Text 11"/>
          <p:cNvSpPr txBox="1"/>
          <p:nvPr/>
        </p:nvSpPr>
        <p:spPr>
          <a:xfrm>
            <a:off x="3474720" y="3840480"/>
            <a:ext cx="5212080" cy="1011936"/>
          </a:xfrm>
          <a:prstGeom prst="rect">
            <a:avLst/>
          </a:prstGeom>
          <a:noFill/>
          <a:ln/>
        </p:spPr>
        <p:txBody>
          <a:bodyPr wrap="square" lIns="0" tIns="0" rIns="0" bIns="0" rtlCol="0" anchor="t"/>
          <a:lstStyle/>
          <a:p>
            <a:pPr marL="0" indent="0">
              <a:buNone/>
            </a:pPr>
            <a:r>
              <a:rPr lang="en-US" sz="1200" dirty="0">
                <a:solidFill>
                  <a:schemeClr val="bg1">
                    <a:lumMod val="65000"/>
                  </a:schemeClr>
                </a:solidFill>
                <a:latin typeface="Calibri" pitchFamily="34" charset="0"/>
                <a:ea typeface="Calibri" pitchFamily="34" charset="-122"/>
                <a:cs typeface="Calibri" pitchFamily="34" charset="-120"/>
              </a:rPr>
              <a:t>Rates from the held-out test set at the 0.2306 cut-off. Flagged customers are called; others are not.</a:t>
            </a:r>
          </a:p>
          <a:p>
            <a:pPr marL="0" indent="0">
              <a:buNone/>
            </a:pPr>
            <a:endParaRPr lang="en-US" sz="1200" dirty="0">
              <a:solidFill>
                <a:schemeClr val="bg1">
                  <a:lumMod val="65000"/>
                </a:schemeClr>
              </a:solidFill>
              <a:latin typeface="Calibri" pitchFamily="34" charset="0"/>
              <a:ea typeface="Calibri" pitchFamily="34" charset="-122"/>
              <a:cs typeface="Calibri" pitchFamily="34" charset="-120"/>
            </a:endParaRPr>
          </a:p>
          <a:p>
            <a:r>
              <a:rPr lang="en-PH" sz="1200" i="1" dirty="0">
                <a:solidFill>
                  <a:schemeClr val="bg1">
                    <a:lumMod val="65000"/>
                  </a:schemeClr>
                </a:solidFill>
              </a:rPr>
              <a:t>Expected customer counts per 10,000 prospects; decimals represent expected values, not actual fractional customers. Financial figures are rounded.</a:t>
            </a:r>
            <a:endParaRPr lang="en-PH" sz="1200" dirty="0">
              <a:solidFill>
                <a:schemeClr val="bg1">
                  <a:lumMod val="65000"/>
                </a:schemeClr>
              </a:solidFill>
            </a:endParaRPr>
          </a:p>
          <a:p>
            <a:pPr marL="0" indent="0">
              <a:buNone/>
            </a:pP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E"/>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256032"/>
            <a:ext cx="571500" cy="256032"/>
          </a:xfrm>
          <a:prstGeom prst="roundRect">
            <a:avLst>
              <a:gd name="adj" fmla="val 50000"/>
            </a:avLst>
          </a:prstGeom>
          <a:solidFill>
            <a:srgbClr val="00BFB3"/>
          </a:solidFill>
          <a:ln w="12700">
            <a:solidFill>
              <a:srgbClr val="00BFB3"/>
            </a:solidFill>
            <a:prstDash val="solid"/>
          </a:ln>
        </p:spPr>
        <p:txBody>
          <a:bodyPr/>
          <a:lstStyle/>
          <a:p>
            <a:endParaRPr lang="en-PH"/>
          </a:p>
        </p:txBody>
      </p:sp>
      <p:sp>
        <p:nvSpPr>
          <p:cNvPr id="3" name="Text 1"/>
          <p:cNvSpPr txBox="1"/>
          <p:nvPr/>
        </p:nvSpPr>
        <p:spPr>
          <a:xfrm>
            <a:off x="457200" y="256032"/>
            <a:ext cx="571500" cy="256032"/>
          </a:xfrm>
          <a:prstGeom prst="rect">
            <a:avLst/>
          </a:prstGeom>
          <a:noFill/>
          <a:ln/>
        </p:spPr>
        <p:txBody>
          <a:bodyPr wrap="square" lIns="0" tIns="0" rIns="0" bIns="0" rtlCol="0" anchor="ctr"/>
          <a:lstStyle/>
          <a:p>
            <a:pPr marL="0" indent="0" algn="ctr">
              <a:buNone/>
            </a:pPr>
            <a:r>
              <a:rPr lang="en-US" sz="1100" b="1" dirty="0">
                <a:solidFill>
                  <a:srgbClr val="0B2E33"/>
                </a:solidFill>
                <a:latin typeface="Calibri" pitchFamily="34" charset="0"/>
                <a:ea typeface="Calibri" pitchFamily="34" charset="-122"/>
                <a:cs typeface="Calibri" pitchFamily="34" charset="-120"/>
              </a:rPr>
              <a:t>BONUS</a:t>
            </a:r>
            <a:endParaRPr lang="en-US" sz="1100" dirty="0"/>
          </a:p>
        </p:txBody>
      </p:sp>
      <p:sp>
        <p:nvSpPr>
          <p:cNvPr id="4" name="Text 0"/>
          <p:cNvSpPr>
            <a:spLocks noGrp="1"/>
          </p:cNvSpPr>
          <p:nvPr>
            <p:ph type="title" idx="100" hasCustomPrompt="1"/>
          </p:nvPr>
        </p:nvSpPr>
        <p:spPr>
          <a:xfrm>
            <a:off x="457200" y="566928"/>
            <a:ext cx="8229600" cy="594360"/>
          </a:xfrm>
          <a:prstGeom prst="rect">
            <a:avLst/>
          </a:prstGeom>
          <a:noFill/>
          <a:ln/>
        </p:spPr>
        <p:txBody>
          <a:bodyPr wrap="square" lIns="0" tIns="0" rIns="0" bIns="0" rtlCol="0" anchor="t"/>
          <a:lstStyle/>
          <a:p>
            <a:pPr marL="0" indent="0" algn="l">
              <a:buNone/>
            </a:pPr>
            <a:r>
              <a:rPr lang="en-US" sz="2800" b="1" dirty="0">
                <a:solidFill>
                  <a:srgbClr val="0B2E33"/>
                </a:solidFill>
                <a:latin typeface="Calibri" pitchFamily="34" charset="0"/>
                <a:ea typeface="Calibri" pitchFamily="34" charset="-122"/>
                <a:cs typeface="Calibri" pitchFamily="34" charset="-120"/>
              </a:rPr>
              <a:t>The model captures a third of the possible profit</a:t>
            </a:r>
            <a:endParaRPr lang="en-US" sz="2800" dirty="0"/>
          </a:p>
        </p:txBody>
      </p:sp>
      <p:graphicFrame>
        <p:nvGraphicFramePr>
          <p:cNvPr id="6" name="Chart 0"/>
          <p:cNvGraphicFramePr/>
          <p:nvPr/>
        </p:nvGraphicFramePr>
        <p:xfrm>
          <a:off x="457200" y="1325880"/>
          <a:ext cx="54864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3"/>
          <p:cNvSpPr txBox="1"/>
          <p:nvPr/>
        </p:nvSpPr>
        <p:spPr>
          <a:xfrm>
            <a:off x="6400800" y="1463040"/>
            <a:ext cx="2286000" cy="640080"/>
          </a:xfrm>
          <a:prstGeom prst="rect">
            <a:avLst/>
          </a:prstGeom>
          <a:noFill/>
          <a:ln/>
        </p:spPr>
        <p:txBody>
          <a:bodyPr wrap="square" lIns="0" tIns="0" rIns="0" bIns="0" rtlCol="0" anchor="t"/>
          <a:lstStyle/>
          <a:p>
            <a:pPr marL="0" indent="0">
              <a:buNone/>
            </a:pPr>
            <a:r>
              <a:rPr lang="en-US" sz="4000" b="1" dirty="0">
                <a:solidFill>
                  <a:srgbClr val="0B2E33"/>
                </a:solidFill>
                <a:latin typeface="Calibri" pitchFamily="34" charset="0"/>
                <a:ea typeface="Calibri" pitchFamily="34" charset="-122"/>
                <a:cs typeface="Calibri" pitchFamily="34" charset="-120"/>
              </a:rPr>
              <a:t>34%</a:t>
            </a:r>
            <a:endParaRPr lang="en-US" sz="4000" dirty="0"/>
          </a:p>
        </p:txBody>
      </p:sp>
      <p:sp>
        <p:nvSpPr>
          <p:cNvPr id="8" name="Text 4"/>
          <p:cNvSpPr txBox="1"/>
          <p:nvPr/>
        </p:nvSpPr>
        <p:spPr>
          <a:xfrm>
            <a:off x="6400800" y="2121408"/>
            <a:ext cx="2286000" cy="45720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of achievable profit captured</a:t>
            </a:r>
            <a:endParaRPr lang="en-US" sz="1300" dirty="0"/>
          </a:p>
        </p:txBody>
      </p:sp>
      <p:sp>
        <p:nvSpPr>
          <p:cNvPr id="9" name="Text 5"/>
          <p:cNvSpPr txBox="1"/>
          <p:nvPr/>
        </p:nvSpPr>
        <p:spPr>
          <a:xfrm>
            <a:off x="6400800" y="2743200"/>
            <a:ext cx="2286000" cy="640080"/>
          </a:xfrm>
          <a:prstGeom prst="rect">
            <a:avLst/>
          </a:prstGeom>
          <a:noFill/>
          <a:ln/>
        </p:spPr>
        <p:txBody>
          <a:bodyPr wrap="square" lIns="0" tIns="0" rIns="0" bIns="0" rtlCol="0" anchor="t"/>
          <a:lstStyle/>
          <a:p>
            <a:pPr marL="0" indent="0">
              <a:buNone/>
            </a:pPr>
            <a:r>
              <a:rPr lang="en-US" sz="4000" b="1" dirty="0">
                <a:solidFill>
                  <a:srgbClr val="E8604C"/>
                </a:solidFill>
                <a:latin typeface="Calibri" pitchFamily="34" charset="0"/>
                <a:ea typeface="Calibri" pitchFamily="34" charset="-122"/>
                <a:cs typeface="Calibri" pitchFamily="34" charset="-120"/>
              </a:rPr>
              <a:t>-1.54M</a:t>
            </a:r>
            <a:endParaRPr lang="en-US" sz="4000" dirty="0"/>
          </a:p>
        </p:txBody>
      </p:sp>
      <p:sp>
        <p:nvSpPr>
          <p:cNvPr id="10" name="Text 6"/>
          <p:cNvSpPr txBox="1"/>
          <p:nvPr/>
        </p:nvSpPr>
        <p:spPr>
          <a:xfrm>
            <a:off x="6400800" y="3401568"/>
            <a:ext cx="2286000" cy="45720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if everyone were called</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E"/>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256032"/>
            <a:ext cx="882396" cy="256032"/>
          </a:xfrm>
          <a:prstGeom prst="roundRect">
            <a:avLst>
              <a:gd name="adj" fmla="val 50000"/>
            </a:avLst>
          </a:prstGeom>
          <a:solidFill>
            <a:srgbClr val="00BFB3"/>
          </a:solidFill>
          <a:ln w="12700">
            <a:solidFill>
              <a:srgbClr val="00BFB3"/>
            </a:solidFill>
            <a:prstDash val="solid"/>
          </a:ln>
        </p:spPr>
        <p:txBody>
          <a:bodyPr/>
          <a:lstStyle/>
          <a:p>
            <a:endParaRPr lang="en-PH"/>
          </a:p>
        </p:txBody>
      </p:sp>
      <p:sp>
        <p:nvSpPr>
          <p:cNvPr id="3" name="Text 1"/>
          <p:cNvSpPr txBox="1"/>
          <p:nvPr/>
        </p:nvSpPr>
        <p:spPr>
          <a:xfrm>
            <a:off x="457200" y="256032"/>
            <a:ext cx="882396" cy="256032"/>
          </a:xfrm>
          <a:prstGeom prst="rect">
            <a:avLst/>
          </a:prstGeom>
          <a:noFill/>
          <a:ln/>
        </p:spPr>
        <p:txBody>
          <a:bodyPr wrap="square" lIns="0" tIns="0" rIns="0" bIns="0" rtlCol="0" anchor="ctr"/>
          <a:lstStyle/>
          <a:p>
            <a:pPr marL="0" indent="0" algn="ctr">
              <a:buNone/>
            </a:pPr>
            <a:r>
              <a:rPr lang="en-US" sz="1100" b="1" dirty="0">
                <a:solidFill>
                  <a:srgbClr val="0B2E33"/>
                </a:solidFill>
                <a:latin typeface="Calibri" pitchFamily="34" charset="0"/>
                <a:ea typeface="Calibri" pitchFamily="34" charset="-122"/>
                <a:cs typeface="Calibri" pitchFamily="34" charset="-120"/>
              </a:rPr>
              <a:t>EXTENSION</a:t>
            </a:r>
            <a:endParaRPr lang="en-US" sz="1100" dirty="0"/>
          </a:p>
        </p:txBody>
      </p:sp>
      <p:sp>
        <p:nvSpPr>
          <p:cNvPr id="4" name="Text 0"/>
          <p:cNvSpPr>
            <a:spLocks noGrp="1"/>
          </p:cNvSpPr>
          <p:nvPr>
            <p:ph type="title" idx="100" hasCustomPrompt="1"/>
          </p:nvPr>
        </p:nvSpPr>
        <p:spPr>
          <a:xfrm>
            <a:off x="457200" y="566928"/>
            <a:ext cx="8229600" cy="594360"/>
          </a:xfrm>
          <a:prstGeom prst="rect">
            <a:avLst/>
          </a:prstGeom>
          <a:noFill/>
          <a:ln/>
        </p:spPr>
        <p:txBody>
          <a:bodyPr wrap="square" lIns="0" tIns="0" rIns="0" bIns="0" rtlCol="0" anchor="t"/>
          <a:lstStyle/>
          <a:p>
            <a:pPr marL="0" indent="0" algn="l">
              <a:buNone/>
            </a:pPr>
            <a:r>
              <a:rPr lang="en-US" sz="2800" b="1" dirty="0">
                <a:solidFill>
                  <a:srgbClr val="0B2E33"/>
                </a:solidFill>
                <a:latin typeface="Calibri" pitchFamily="34" charset="0"/>
                <a:ea typeface="Calibri" pitchFamily="34" charset="-122"/>
                <a:cs typeface="Calibri" pitchFamily="34" charset="-120"/>
              </a:rPr>
              <a:t>How much precision and recall does profit need?</a:t>
            </a:r>
            <a:endParaRPr lang="en-US" sz="2800" dirty="0"/>
          </a:p>
        </p:txBody>
      </p:sp>
      <p:sp>
        <p:nvSpPr>
          <p:cNvPr id="6" name="card"/>
          <p:cNvSpPr/>
          <p:nvPr/>
        </p:nvSpPr>
        <p:spPr>
          <a:xfrm>
            <a:off x="457200" y="1371600"/>
            <a:ext cx="8229600" cy="1005840"/>
          </a:xfrm>
          <a:prstGeom prst="roundRect">
            <a:avLst>
              <a:gd name="adj" fmla="val 7273"/>
            </a:avLst>
          </a:prstGeom>
          <a:solidFill>
            <a:srgbClr val="E8F7F6"/>
          </a:solidFill>
          <a:ln w="12700">
            <a:solidFill>
              <a:srgbClr val="E8F7F6"/>
            </a:solidFill>
            <a:prstDash val="solid"/>
          </a:ln>
        </p:spPr>
        <p:txBody>
          <a:bodyPr/>
          <a:lstStyle/>
          <a:p>
            <a:endParaRPr lang="en-PH"/>
          </a:p>
        </p:txBody>
      </p:sp>
      <p:sp>
        <p:nvSpPr>
          <p:cNvPr id="7" name="Text 4"/>
          <p:cNvSpPr txBox="1"/>
          <p:nvPr/>
        </p:nvSpPr>
        <p:spPr>
          <a:xfrm>
            <a:off x="731520" y="1554480"/>
            <a:ext cx="7680960" cy="457200"/>
          </a:xfrm>
          <a:prstGeom prst="rect">
            <a:avLst/>
          </a:prstGeom>
          <a:noFill/>
          <a:ln/>
        </p:spPr>
        <p:txBody>
          <a:bodyPr wrap="square" lIns="0" tIns="0" rIns="0" bIns="0" rtlCol="0" anchor="t"/>
          <a:lstStyle/>
          <a:p>
            <a:pPr marL="0" indent="0">
              <a:buNone/>
            </a:pPr>
            <a:r>
              <a:rPr lang="en-US" sz="2400" b="1" dirty="0">
                <a:solidFill>
                  <a:srgbClr val="0B2E33"/>
                </a:solidFill>
                <a:latin typeface="Calibri" pitchFamily="34" charset="0"/>
                <a:ea typeface="Calibri" pitchFamily="34" charset="-122"/>
                <a:cs typeface="Calibri" pitchFamily="34" charset="-120"/>
              </a:rPr>
              <a:t>Profit = k · R · n · [ V − c · (1/P − 1) ]</a:t>
            </a:r>
            <a:endParaRPr lang="en-US" sz="2400" dirty="0"/>
          </a:p>
        </p:txBody>
      </p:sp>
      <p:sp>
        <p:nvSpPr>
          <p:cNvPr id="8" name="Text 5"/>
          <p:cNvSpPr txBox="1"/>
          <p:nvPr/>
        </p:nvSpPr>
        <p:spPr>
          <a:xfrm>
            <a:off x="731520" y="2011680"/>
            <a:ext cx="7680960" cy="274320"/>
          </a:xfrm>
          <a:prstGeom prst="rect">
            <a:avLst/>
          </a:prstGeom>
          <a:noFill/>
          <a:ln/>
        </p:spPr>
        <p:txBody>
          <a:bodyPr wrap="square" lIns="0" tIns="0" rIns="0" bIns="0" rtlCol="0" anchor="t"/>
          <a:lstStyle/>
          <a:p>
            <a:pPr marL="0" indent="0">
              <a:buNone/>
            </a:pPr>
            <a:r>
              <a:rPr lang="en-US" sz="1200" dirty="0">
                <a:solidFill>
                  <a:srgbClr val="5B6B6E"/>
                </a:solidFill>
                <a:latin typeface="Calibri" pitchFamily="34" charset="0"/>
                <a:ea typeface="Calibri" pitchFamily="34" charset="-122"/>
                <a:cs typeface="Calibri" pitchFamily="34" charset="-120"/>
              </a:rPr>
              <a:t>k share who would buy, R recall, P precision, V profit of a sale (1,001), c cost of a wasted call (300)</a:t>
            </a:r>
            <a:endParaRPr lang="en-US" sz="1200" dirty="0"/>
          </a:p>
        </p:txBody>
      </p:sp>
      <p:sp>
        <p:nvSpPr>
          <p:cNvPr id="9" name="Text 6"/>
          <p:cNvSpPr txBox="1"/>
          <p:nvPr/>
        </p:nvSpPr>
        <p:spPr>
          <a:xfrm>
            <a:off x="457200" y="2743200"/>
            <a:ext cx="2560320" cy="640080"/>
          </a:xfrm>
          <a:prstGeom prst="rect">
            <a:avLst/>
          </a:prstGeom>
          <a:noFill/>
          <a:ln/>
        </p:spPr>
        <p:txBody>
          <a:bodyPr wrap="square" lIns="0" tIns="0" rIns="0" bIns="0" rtlCol="0" anchor="t"/>
          <a:lstStyle/>
          <a:p>
            <a:pPr marL="0" indent="0">
              <a:buNone/>
            </a:pPr>
            <a:r>
              <a:rPr lang="en-US" sz="4000" b="1" dirty="0">
                <a:solidFill>
                  <a:srgbClr val="0B2E33"/>
                </a:solidFill>
                <a:latin typeface="Calibri" pitchFamily="34" charset="0"/>
                <a:ea typeface="Calibri" pitchFamily="34" charset="-122"/>
                <a:cs typeface="Calibri" pitchFamily="34" charset="-120"/>
              </a:rPr>
              <a:t>23.1%</a:t>
            </a:r>
            <a:endParaRPr lang="en-US" sz="4000" dirty="0"/>
          </a:p>
        </p:txBody>
      </p:sp>
      <p:sp>
        <p:nvSpPr>
          <p:cNvPr id="10" name="Text 7"/>
          <p:cNvSpPr txBox="1"/>
          <p:nvPr/>
        </p:nvSpPr>
        <p:spPr>
          <a:xfrm>
            <a:off x="457200" y="3401568"/>
            <a:ext cx="2560320" cy="45720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break-even precision at any recall</a:t>
            </a:r>
            <a:endParaRPr lang="en-US" sz="1300" dirty="0"/>
          </a:p>
        </p:txBody>
      </p:sp>
      <p:sp>
        <p:nvSpPr>
          <p:cNvPr id="11" name="Text 8"/>
          <p:cNvSpPr txBox="1"/>
          <p:nvPr/>
        </p:nvSpPr>
        <p:spPr>
          <a:xfrm>
            <a:off x="3291840" y="2743200"/>
            <a:ext cx="2560320" cy="640080"/>
          </a:xfrm>
          <a:prstGeom prst="rect">
            <a:avLst/>
          </a:prstGeom>
          <a:noFill/>
          <a:ln/>
        </p:spPr>
        <p:txBody>
          <a:bodyPr wrap="square" lIns="0" tIns="0" rIns="0" bIns="0" rtlCol="0" anchor="t"/>
          <a:lstStyle/>
          <a:p>
            <a:pPr marL="0" indent="0">
              <a:buNone/>
            </a:pPr>
            <a:r>
              <a:rPr lang="en-US" sz="4000" b="1" dirty="0">
                <a:solidFill>
                  <a:srgbClr val="0B2E33"/>
                </a:solidFill>
                <a:latin typeface="Calibri" pitchFamily="34" charset="0"/>
                <a:ea typeface="Calibri" pitchFamily="34" charset="-122"/>
                <a:cs typeface="Calibri" pitchFamily="34" charset="-120"/>
              </a:rPr>
              <a:t>0.43 / 54%</a:t>
            </a:r>
            <a:endParaRPr lang="en-US" sz="4000" dirty="0"/>
          </a:p>
        </p:txBody>
      </p:sp>
      <p:sp>
        <p:nvSpPr>
          <p:cNvPr id="12" name="Text 9"/>
          <p:cNvSpPr txBox="1"/>
          <p:nvPr/>
        </p:nvSpPr>
        <p:spPr>
          <a:xfrm>
            <a:off x="3291840" y="3401568"/>
            <a:ext cx="2560320" cy="45720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profit-optimal precision / recall</a:t>
            </a:r>
            <a:endParaRPr lang="en-US" sz="1300" dirty="0"/>
          </a:p>
        </p:txBody>
      </p:sp>
      <p:sp>
        <p:nvSpPr>
          <p:cNvPr id="13" name="Text 10"/>
          <p:cNvSpPr txBox="1"/>
          <p:nvPr/>
        </p:nvSpPr>
        <p:spPr>
          <a:xfrm>
            <a:off x="6126480" y="2743200"/>
            <a:ext cx="2560320" cy="640080"/>
          </a:xfrm>
          <a:prstGeom prst="rect">
            <a:avLst/>
          </a:prstGeom>
          <a:noFill/>
          <a:ln/>
        </p:spPr>
        <p:txBody>
          <a:bodyPr wrap="square" lIns="0" tIns="0" rIns="0" bIns="0" rtlCol="0" anchor="t"/>
          <a:lstStyle/>
          <a:p>
            <a:pPr marL="0" indent="0">
              <a:buNone/>
            </a:pPr>
            <a:r>
              <a:rPr lang="en-US" sz="4000" b="1" dirty="0">
                <a:solidFill>
                  <a:srgbClr val="E8604C"/>
                </a:solidFill>
                <a:latin typeface="Calibri" pitchFamily="34" charset="0"/>
                <a:ea typeface="Calibri" pitchFamily="34" charset="-122"/>
                <a:cs typeface="Calibri" pitchFamily="34" charset="-120"/>
              </a:rPr>
              <a:t>≈ ⅓ less</a:t>
            </a:r>
            <a:endParaRPr lang="en-US" sz="4000" dirty="0"/>
          </a:p>
        </p:txBody>
      </p:sp>
      <p:sp>
        <p:nvSpPr>
          <p:cNvPr id="14" name="Text 11"/>
          <p:cNvSpPr txBox="1"/>
          <p:nvPr/>
        </p:nvSpPr>
        <p:spPr>
          <a:xfrm>
            <a:off x="6126480" y="3401568"/>
            <a:ext cx="2560320" cy="45720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profit if accuracy is maximised</a:t>
            </a:r>
            <a:endParaRPr lang="en-US" sz="1300" dirty="0"/>
          </a:p>
        </p:txBody>
      </p:sp>
      <p:sp>
        <p:nvSpPr>
          <p:cNvPr id="15" name="Text 12"/>
          <p:cNvSpPr txBox="1"/>
          <p:nvPr/>
        </p:nvSpPr>
        <p:spPr>
          <a:xfrm>
            <a:off x="457200" y="4160520"/>
            <a:ext cx="8229600" cy="365760"/>
          </a:xfrm>
          <a:prstGeom prst="rect">
            <a:avLst/>
          </a:prstGeom>
          <a:noFill/>
          <a:ln/>
        </p:spPr>
        <p:txBody>
          <a:bodyPr wrap="square" lIns="0" tIns="0" rIns="0" bIns="0" rtlCol="0" anchor="t"/>
          <a:lstStyle/>
          <a:p>
            <a:r>
              <a:rPr lang="en-PH" sz="1200" i="1" dirty="0"/>
              <a:t>The profit-maximizing threshold is estimated from the test-set profit curve for comparison. The recommended operating threshold remains 0.2306, derived from the financial assumptions and selected without test-set tuning.</a:t>
            </a:r>
            <a:endParaRPr lang="en-PH"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E"/>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256032"/>
            <a:ext cx="960120" cy="256032"/>
          </a:xfrm>
          <a:prstGeom prst="roundRect">
            <a:avLst>
              <a:gd name="adj" fmla="val 50000"/>
            </a:avLst>
          </a:prstGeom>
          <a:solidFill>
            <a:srgbClr val="00BFB3"/>
          </a:solidFill>
          <a:ln w="12700">
            <a:solidFill>
              <a:srgbClr val="00BFB3"/>
            </a:solidFill>
            <a:prstDash val="solid"/>
          </a:ln>
        </p:spPr>
        <p:txBody>
          <a:bodyPr/>
          <a:lstStyle/>
          <a:p>
            <a:endParaRPr lang="en-PH"/>
          </a:p>
        </p:txBody>
      </p:sp>
      <p:sp>
        <p:nvSpPr>
          <p:cNvPr id="3" name="Text 1"/>
          <p:cNvSpPr txBox="1"/>
          <p:nvPr/>
        </p:nvSpPr>
        <p:spPr>
          <a:xfrm>
            <a:off x="457200" y="256032"/>
            <a:ext cx="960120" cy="256032"/>
          </a:xfrm>
          <a:prstGeom prst="rect">
            <a:avLst/>
          </a:prstGeom>
          <a:noFill/>
          <a:ln/>
        </p:spPr>
        <p:txBody>
          <a:bodyPr wrap="square" lIns="0" tIns="0" rIns="0" bIns="0" rtlCol="0" anchor="ctr"/>
          <a:lstStyle/>
          <a:p>
            <a:pPr marL="0" indent="0" algn="ctr">
              <a:buNone/>
            </a:pPr>
            <a:r>
              <a:rPr lang="en-US" sz="1100" b="1" dirty="0">
                <a:solidFill>
                  <a:srgbClr val="0B2E33"/>
                </a:solidFill>
                <a:latin typeface="Calibri" pitchFamily="34" charset="0"/>
                <a:ea typeface="Calibri" pitchFamily="34" charset="-122"/>
                <a:cs typeface="Calibri" pitchFamily="34" charset="-120"/>
              </a:rPr>
              <a:t>NEXT STEPS</a:t>
            </a:r>
            <a:endParaRPr lang="en-US" sz="1100" dirty="0"/>
          </a:p>
        </p:txBody>
      </p:sp>
      <p:sp>
        <p:nvSpPr>
          <p:cNvPr id="4" name="Text 0"/>
          <p:cNvSpPr>
            <a:spLocks noGrp="1"/>
          </p:cNvSpPr>
          <p:nvPr>
            <p:ph type="title" idx="100" hasCustomPrompt="1"/>
          </p:nvPr>
        </p:nvSpPr>
        <p:spPr>
          <a:xfrm>
            <a:off x="457200" y="566928"/>
            <a:ext cx="8229600" cy="594360"/>
          </a:xfrm>
          <a:prstGeom prst="rect">
            <a:avLst/>
          </a:prstGeom>
          <a:noFill/>
          <a:ln/>
        </p:spPr>
        <p:txBody>
          <a:bodyPr wrap="square" lIns="0" tIns="0" rIns="0" bIns="0" rtlCol="0" anchor="t"/>
          <a:lstStyle/>
          <a:p>
            <a:pPr marL="0" indent="0" algn="l">
              <a:buNone/>
            </a:pPr>
            <a:r>
              <a:rPr lang="en-US" sz="2800" b="1" dirty="0">
                <a:solidFill>
                  <a:srgbClr val="0B2E33"/>
                </a:solidFill>
                <a:latin typeface="Calibri" pitchFamily="34" charset="0"/>
                <a:ea typeface="Calibri" pitchFamily="34" charset="-122"/>
                <a:cs typeface="Calibri" pitchFamily="34" charset="-120"/>
              </a:rPr>
              <a:t>Four risks to manage before launch</a:t>
            </a:r>
            <a:endParaRPr lang="en-US" sz="2800" dirty="0"/>
          </a:p>
        </p:txBody>
      </p:sp>
      <p:sp>
        <p:nvSpPr>
          <p:cNvPr id="6" name="card"/>
          <p:cNvSpPr/>
          <p:nvPr/>
        </p:nvSpPr>
        <p:spPr>
          <a:xfrm>
            <a:off x="457200" y="1371600"/>
            <a:ext cx="4023360" cy="1371600"/>
          </a:xfrm>
          <a:prstGeom prst="roundRect">
            <a:avLst>
              <a:gd name="adj" fmla="val 5333"/>
            </a:avLst>
          </a:prstGeom>
          <a:solidFill>
            <a:srgbClr val="E8F7F6"/>
          </a:solidFill>
          <a:ln w="12700">
            <a:solidFill>
              <a:srgbClr val="E8F7F6"/>
            </a:solidFill>
            <a:prstDash val="solid"/>
          </a:ln>
        </p:spPr>
        <p:txBody>
          <a:bodyPr/>
          <a:lstStyle/>
          <a:p>
            <a:endParaRPr lang="en-PH"/>
          </a:p>
        </p:txBody>
      </p:sp>
      <p:sp>
        <p:nvSpPr>
          <p:cNvPr id="7" name="Shape 4"/>
          <p:cNvSpPr/>
          <p:nvPr/>
        </p:nvSpPr>
        <p:spPr>
          <a:xfrm>
            <a:off x="640080" y="1554480"/>
            <a:ext cx="411480" cy="411480"/>
          </a:xfrm>
          <a:prstGeom prst="ellipse">
            <a:avLst/>
          </a:prstGeom>
          <a:solidFill>
            <a:srgbClr val="00BFB3"/>
          </a:solidFill>
          <a:ln w="12700">
            <a:solidFill>
              <a:srgbClr val="00BFB3"/>
            </a:solidFill>
            <a:prstDash val="solid"/>
          </a:ln>
        </p:spPr>
        <p:txBody>
          <a:bodyPr/>
          <a:lstStyle/>
          <a:p>
            <a:endParaRPr lang="en-PH"/>
          </a:p>
        </p:txBody>
      </p:sp>
      <p:sp>
        <p:nvSpPr>
          <p:cNvPr id="8" name="Text 5"/>
          <p:cNvSpPr txBox="1"/>
          <p:nvPr/>
        </p:nvSpPr>
        <p:spPr>
          <a:xfrm>
            <a:off x="640080" y="1554480"/>
            <a:ext cx="411480" cy="411480"/>
          </a:xfrm>
          <a:prstGeom prst="rect">
            <a:avLst/>
          </a:prstGeom>
          <a:noFill/>
          <a:ln/>
        </p:spPr>
        <p:txBody>
          <a:bodyPr wrap="square" lIns="0" tIns="0" rIns="0" bIns="0" rtlCol="0" anchor="ctr"/>
          <a:lstStyle/>
          <a:p>
            <a:pPr marL="0" indent="0" algn="ctr">
              <a:buNone/>
            </a:pPr>
            <a:r>
              <a:rPr lang="en-US" sz="1600" b="1" dirty="0">
                <a:solidFill>
                  <a:srgbClr val="0B2E33"/>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234440" y="1554480"/>
            <a:ext cx="3108960" cy="365760"/>
          </a:xfrm>
          <a:prstGeom prst="rect">
            <a:avLst/>
          </a:prstGeom>
          <a:noFill/>
          <a:ln/>
        </p:spPr>
        <p:txBody>
          <a:bodyPr wrap="square" lIns="0" tIns="0" rIns="0" bIns="0" rtlCol="0" anchor="t"/>
          <a:lstStyle/>
          <a:p>
            <a:pPr marL="0" indent="0">
              <a:buNone/>
            </a:pPr>
            <a:r>
              <a:rPr lang="en-US" sz="1600" b="1" dirty="0">
                <a:solidFill>
                  <a:srgbClr val="0B2E33"/>
                </a:solidFill>
                <a:latin typeface="Calibri" pitchFamily="34" charset="0"/>
                <a:ea typeface="Calibri" pitchFamily="34" charset="-122"/>
                <a:cs typeface="Calibri" pitchFamily="34" charset="-120"/>
              </a:rPr>
              <a:t>Economic cycle is a calendar</a:t>
            </a:r>
            <a:endParaRPr lang="en-US" sz="1600" dirty="0"/>
          </a:p>
        </p:txBody>
      </p:sp>
      <p:sp>
        <p:nvSpPr>
          <p:cNvPr id="10" name="Text 7"/>
          <p:cNvSpPr txBox="1"/>
          <p:nvPr/>
        </p:nvSpPr>
        <p:spPr>
          <a:xfrm>
            <a:off x="1234440" y="1965960"/>
            <a:ext cx="3108960" cy="73152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Held-out periods score the same, and a no-macro fallback earns about 293k. Still monitor drift.</a:t>
            </a:r>
            <a:endParaRPr lang="en-US" sz="1300" dirty="0"/>
          </a:p>
        </p:txBody>
      </p:sp>
      <p:sp>
        <p:nvSpPr>
          <p:cNvPr id="11" name="card"/>
          <p:cNvSpPr/>
          <p:nvPr/>
        </p:nvSpPr>
        <p:spPr>
          <a:xfrm>
            <a:off x="4663440" y="1371600"/>
            <a:ext cx="4023360" cy="1371600"/>
          </a:xfrm>
          <a:prstGeom prst="roundRect">
            <a:avLst>
              <a:gd name="adj" fmla="val 5333"/>
            </a:avLst>
          </a:prstGeom>
          <a:solidFill>
            <a:srgbClr val="E8F7F6"/>
          </a:solidFill>
          <a:ln w="12700">
            <a:solidFill>
              <a:srgbClr val="E8F7F6"/>
            </a:solidFill>
            <a:prstDash val="solid"/>
          </a:ln>
        </p:spPr>
        <p:txBody>
          <a:bodyPr/>
          <a:lstStyle/>
          <a:p>
            <a:endParaRPr lang="en-PH"/>
          </a:p>
        </p:txBody>
      </p:sp>
      <p:sp>
        <p:nvSpPr>
          <p:cNvPr id="12" name="Shape 9"/>
          <p:cNvSpPr/>
          <p:nvPr/>
        </p:nvSpPr>
        <p:spPr>
          <a:xfrm>
            <a:off x="4846320" y="1554480"/>
            <a:ext cx="411480" cy="411480"/>
          </a:xfrm>
          <a:prstGeom prst="ellipse">
            <a:avLst/>
          </a:prstGeom>
          <a:solidFill>
            <a:srgbClr val="00BFB3"/>
          </a:solidFill>
          <a:ln w="12700">
            <a:solidFill>
              <a:srgbClr val="00BFB3"/>
            </a:solidFill>
            <a:prstDash val="solid"/>
          </a:ln>
        </p:spPr>
        <p:txBody>
          <a:bodyPr/>
          <a:lstStyle/>
          <a:p>
            <a:endParaRPr lang="en-PH"/>
          </a:p>
        </p:txBody>
      </p:sp>
      <p:sp>
        <p:nvSpPr>
          <p:cNvPr id="13" name="Text 10"/>
          <p:cNvSpPr txBox="1"/>
          <p:nvPr/>
        </p:nvSpPr>
        <p:spPr>
          <a:xfrm>
            <a:off x="4846320" y="1554480"/>
            <a:ext cx="411480" cy="411480"/>
          </a:xfrm>
          <a:prstGeom prst="rect">
            <a:avLst/>
          </a:prstGeom>
          <a:noFill/>
          <a:ln/>
        </p:spPr>
        <p:txBody>
          <a:bodyPr wrap="square" lIns="0" tIns="0" rIns="0" bIns="0" rtlCol="0" anchor="ctr"/>
          <a:lstStyle/>
          <a:p>
            <a:pPr marL="0" indent="0" algn="ctr">
              <a:buNone/>
            </a:pPr>
            <a:r>
              <a:rPr lang="en-US" sz="1600" b="1" dirty="0">
                <a:solidFill>
                  <a:srgbClr val="0B2E33"/>
                </a:solidFill>
                <a:latin typeface="Calibri" pitchFamily="34" charset="0"/>
                <a:ea typeface="Calibri" pitchFamily="34" charset="-122"/>
                <a:cs typeface="Calibri" pitchFamily="34" charset="-120"/>
              </a:rPr>
              <a:t>2</a:t>
            </a:r>
            <a:endParaRPr lang="en-US" sz="1600" dirty="0"/>
          </a:p>
        </p:txBody>
      </p:sp>
      <p:sp>
        <p:nvSpPr>
          <p:cNvPr id="14" name="Text 11"/>
          <p:cNvSpPr txBox="1"/>
          <p:nvPr/>
        </p:nvSpPr>
        <p:spPr>
          <a:xfrm>
            <a:off x="5440680" y="1554480"/>
            <a:ext cx="3108960" cy="365760"/>
          </a:xfrm>
          <a:prstGeom prst="rect">
            <a:avLst/>
          </a:prstGeom>
          <a:noFill/>
          <a:ln/>
        </p:spPr>
        <p:txBody>
          <a:bodyPr wrap="square" lIns="0" tIns="0" rIns="0" bIns="0" rtlCol="0" anchor="t"/>
          <a:lstStyle/>
          <a:p>
            <a:pPr marL="0" indent="0">
              <a:buNone/>
            </a:pPr>
            <a:r>
              <a:rPr lang="en-US" sz="1600" b="1" dirty="0">
                <a:solidFill>
                  <a:srgbClr val="0B2E33"/>
                </a:solidFill>
                <a:latin typeface="Calibri" pitchFamily="34" charset="0"/>
                <a:ea typeface="Calibri" pitchFamily="34" charset="-122"/>
                <a:cs typeface="Calibri" pitchFamily="34" charset="-120"/>
              </a:rPr>
              <a:t>Random, not time-based split</a:t>
            </a:r>
            <a:endParaRPr lang="en-US" sz="1600" dirty="0"/>
          </a:p>
        </p:txBody>
      </p:sp>
      <p:sp>
        <p:nvSpPr>
          <p:cNvPr id="15" name="Text 12"/>
          <p:cNvSpPr txBox="1"/>
          <p:nvPr/>
        </p:nvSpPr>
        <p:spPr>
          <a:xfrm>
            <a:off x="5440680" y="1965960"/>
            <a:ext cx="3108960" cy="73152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A time-based hold-out is a more honest test of deployment.</a:t>
            </a:r>
            <a:endParaRPr lang="en-US" sz="1300" dirty="0"/>
          </a:p>
        </p:txBody>
      </p:sp>
      <p:sp>
        <p:nvSpPr>
          <p:cNvPr id="16" name="card"/>
          <p:cNvSpPr/>
          <p:nvPr/>
        </p:nvSpPr>
        <p:spPr>
          <a:xfrm>
            <a:off x="457200" y="2926080"/>
            <a:ext cx="4023360" cy="1371600"/>
          </a:xfrm>
          <a:prstGeom prst="roundRect">
            <a:avLst>
              <a:gd name="adj" fmla="val 5333"/>
            </a:avLst>
          </a:prstGeom>
          <a:solidFill>
            <a:srgbClr val="E8F7F6"/>
          </a:solidFill>
          <a:ln w="12700">
            <a:solidFill>
              <a:srgbClr val="E8F7F6"/>
            </a:solidFill>
            <a:prstDash val="solid"/>
          </a:ln>
        </p:spPr>
        <p:txBody>
          <a:bodyPr/>
          <a:lstStyle/>
          <a:p>
            <a:endParaRPr lang="en-PH"/>
          </a:p>
        </p:txBody>
      </p:sp>
      <p:sp>
        <p:nvSpPr>
          <p:cNvPr id="17" name="Shape 14"/>
          <p:cNvSpPr/>
          <p:nvPr/>
        </p:nvSpPr>
        <p:spPr>
          <a:xfrm>
            <a:off x="640080" y="3108960"/>
            <a:ext cx="411480" cy="411480"/>
          </a:xfrm>
          <a:prstGeom prst="ellipse">
            <a:avLst/>
          </a:prstGeom>
          <a:solidFill>
            <a:srgbClr val="00BFB3"/>
          </a:solidFill>
          <a:ln w="12700">
            <a:solidFill>
              <a:srgbClr val="00BFB3"/>
            </a:solidFill>
            <a:prstDash val="solid"/>
          </a:ln>
        </p:spPr>
        <p:txBody>
          <a:bodyPr/>
          <a:lstStyle/>
          <a:p>
            <a:endParaRPr lang="en-PH"/>
          </a:p>
        </p:txBody>
      </p:sp>
      <p:sp>
        <p:nvSpPr>
          <p:cNvPr id="18" name="Text 15"/>
          <p:cNvSpPr txBox="1"/>
          <p:nvPr/>
        </p:nvSpPr>
        <p:spPr>
          <a:xfrm>
            <a:off x="640080" y="3108960"/>
            <a:ext cx="411480" cy="411480"/>
          </a:xfrm>
          <a:prstGeom prst="rect">
            <a:avLst/>
          </a:prstGeom>
          <a:noFill/>
          <a:ln/>
        </p:spPr>
        <p:txBody>
          <a:bodyPr wrap="square" lIns="0" tIns="0" rIns="0" bIns="0" rtlCol="0" anchor="ctr"/>
          <a:lstStyle/>
          <a:p>
            <a:pPr marL="0" indent="0" algn="ctr">
              <a:buNone/>
            </a:pPr>
            <a:r>
              <a:rPr lang="en-US" sz="1600" b="1" dirty="0">
                <a:solidFill>
                  <a:srgbClr val="0B2E33"/>
                </a:solidFill>
                <a:latin typeface="Calibri" pitchFamily="34" charset="0"/>
                <a:ea typeface="Calibri" pitchFamily="34" charset="-122"/>
                <a:cs typeface="Calibri" pitchFamily="34" charset="-120"/>
              </a:rPr>
              <a:t>3</a:t>
            </a:r>
            <a:endParaRPr lang="en-US" sz="1600" dirty="0"/>
          </a:p>
        </p:txBody>
      </p:sp>
      <p:sp>
        <p:nvSpPr>
          <p:cNvPr id="19" name="Text 16"/>
          <p:cNvSpPr txBox="1"/>
          <p:nvPr/>
        </p:nvSpPr>
        <p:spPr>
          <a:xfrm>
            <a:off x="1234440" y="3108960"/>
            <a:ext cx="3108960" cy="365760"/>
          </a:xfrm>
          <a:prstGeom prst="rect">
            <a:avLst/>
          </a:prstGeom>
          <a:noFill/>
          <a:ln/>
        </p:spPr>
        <p:txBody>
          <a:bodyPr wrap="square" lIns="0" tIns="0" rIns="0" bIns="0" rtlCol="0" anchor="t"/>
          <a:lstStyle/>
          <a:p>
            <a:pPr marL="0" indent="0">
              <a:buNone/>
            </a:pPr>
            <a:r>
              <a:rPr lang="en-US" sz="1600" b="1" dirty="0">
                <a:solidFill>
                  <a:srgbClr val="0B2E33"/>
                </a:solidFill>
                <a:latin typeface="Calibri" pitchFamily="34" charset="0"/>
                <a:ea typeface="Calibri" pitchFamily="34" charset="-122"/>
                <a:cs typeface="Calibri" pitchFamily="34" charset="-120"/>
              </a:rPr>
              <a:t>New list may convert differently</a:t>
            </a:r>
            <a:endParaRPr lang="en-US" sz="1600" dirty="0"/>
          </a:p>
        </p:txBody>
      </p:sp>
      <p:sp>
        <p:nvSpPr>
          <p:cNvPr id="20" name="Text 17"/>
          <p:cNvSpPr txBox="1"/>
          <p:nvPr/>
        </p:nvSpPr>
        <p:spPr>
          <a:xfrm>
            <a:off x="1234440" y="3520440"/>
            <a:ext cx="3108960" cy="73152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Run a small pilot, then recalibrate before committing the full budget.</a:t>
            </a:r>
            <a:endParaRPr lang="en-US" sz="1300" dirty="0"/>
          </a:p>
        </p:txBody>
      </p:sp>
      <p:sp>
        <p:nvSpPr>
          <p:cNvPr id="21" name="card"/>
          <p:cNvSpPr/>
          <p:nvPr/>
        </p:nvSpPr>
        <p:spPr>
          <a:xfrm>
            <a:off x="4663440" y="2926080"/>
            <a:ext cx="4023360" cy="1371600"/>
          </a:xfrm>
          <a:prstGeom prst="roundRect">
            <a:avLst>
              <a:gd name="adj" fmla="val 5333"/>
            </a:avLst>
          </a:prstGeom>
          <a:solidFill>
            <a:srgbClr val="E8F7F6"/>
          </a:solidFill>
          <a:ln w="12700">
            <a:solidFill>
              <a:srgbClr val="E8F7F6"/>
            </a:solidFill>
            <a:prstDash val="solid"/>
          </a:ln>
        </p:spPr>
        <p:txBody>
          <a:bodyPr/>
          <a:lstStyle/>
          <a:p>
            <a:endParaRPr lang="en-PH"/>
          </a:p>
        </p:txBody>
      </p:sp>
      <p:sp>
        <p:nvSpPr>
          <p:cNvPr id="22" name="Shape 19"/>
          <p:cNvSpPr/>
          <p:nvPr/>
        </p:nvSpPr>
        <p:spPr>
          <a:xfrm>
            <a:off x="4846320" y="3108960"/>
            <a:ext cx="411480" cy="411480"/>
          </a:xfrm>
          <a:prstGeom prst="ellipse">
            <a:avLst/>
          </a:prstGeom>
          <a:solidFill>
            <a:srgbClr val="00BFB3"/>
          </a:solidFill>
          <a:ln w="12700">
            <a:solidFill>
              <a:srgbClr val="00BFB3"/>
            </a:solidFill>
            <a:prstDash val="solid"/>
          </a:ln>
        </p:spPr>
        <p:txBody>
          <a:bodyPr/>
          <a:lstStyle/>
          <a:p>
            <a:endParaRPr lang="en-PH"/>
          </a:p>
        </p:txBody>
      </p:sp>
      <p:sp>
        <p:nvSpPr>
          <p:cNvPr id="23" name="Text 20"/>
          <p:cNvSpPr txBox="1"/>
          <p:nvPr/>
        </p:nvSpPr>
        <p:spPr>
          <a:xfrm>
            <a:off x="4846320" y="3108960"/>
            <a:ext cx="411480" cy="411480"/>
          </a:xfrm>
          <a:prstGeom prst="rect">
            <a:avLst/>
          </a:prstGeom>
          <a:noFill/>
          <a:ln/>
        </p:spPr>
        <p:txBody>
          <a:bodyPr wrap="square" lIns="0" tIns="0" rIns="0" bIns="0" rtlCol="0" anchor="ctr"/>
          <a:lstStyle/>
          <a:p>
            <a:pPr marL="0" indent="0" algn="ctr">
              <a:buNone/>
            </a:pPr>
            <a:r>
              <a:rPr lang="en-US" sz="1600" b="1" dirty="0">
                <a:solidFill>
                  <a:srgbClr val="0B2E33"/>
                </a:solidFill>
                <a:latin typeface="Calibri" pitchFamily="34" charset="0"/>
                <a:ea typeface="Calibri" pitchFamily="34" charset="-122"/>
                <a:cs typeface="Calibri" pitchFamily="34" charset="-120"/>
              </a:rPr>
              <a:t>4</a:t>
            </a:r>
            <a:endParaRPr lang="en-US" sz="1600" dirty="0"/>
          </a:p>
        </p:txBody>
      </p:sp>
      <p:sp>
        <p:nvSpPr>
          <p:cNvPr id="24" name="Text 21"/>
          <p:cNvSpPr txBox="1"/>
          <p:nvPr/>
        </p:nvSpPr>
        <p:spPr>
          <a:xfrm>
            <a:off x="5440680" y="3108960"/>
            <a:ext cx="3108960" cy="365760"/>
          </a:xfrm>
          <a:prstGeom prst="rect">
            <a:avLst/>
          </a:prstGeom>
          <a:noFill/>
          <a:ln/>
        </p:spPr>
        <p:txBody>
          <a:bodyPr wrap="square" lIns="0" tIns="0" rIns="0" bIns="0" rtlCol="0" anchor="t"/>
          <a:lstStyle/>
          <a:p>
            <a:pPr marL="0" indent="0">
              <a:buNone/>
            </a:pPr>
            <a:r>
              <a:rPr lang="en-US" sz="1600" b="1" dirty="0">
                <a:solidFill>
                  <a:srgbClr val="0B2E33"/>
                </a:solidFill>
                <a:latin typeface="Calibri" pitchFamily="34" charset="0"/>
                <a:ea typeface="Calibri" pitchFamily="34" charset="-122"/>
                <a:cs typeface="Calibri" pitchFamily="34" charset="-120"/>
              </a:rPr>
              <a:t>Inputs are given, not estimated</a:t>
            </a:r>
            <a:endParaRPr lang="en-US" sz="1600" dirty="0"/>
          </a:p>
        </p:txBody>
      </p:sp>
      <p:sp>
        <p:nvSpPr>
          <p:cNvPr id="25" name="Text 22"/>
          <p:cNvSpPr txBox="1"/>
          <p:nvPr/>
        </p:nvSpPr>
        <p:spPr>
          <a:xfrm>
            <a:off x="5440680" y="3520440"/>
            <a:ext cx="3108960" cy="731520"/>
          </a:xfrm>
          <a:prstGeom prst="rect">
            <a:avLst/>
          </a:prstGeom>
          <a:noFill/>
          <a:ln/>
        </p:spPr>
        <p:txBody>
          <a:bodyPr wrap="square" lIns="0" tIns="0" rIns="0" bIns="0" rtlCol="0" anchor="t"/>
          <a:lstStyle/>
          <a:p>
            <a:pPr marL="0" indent="0">
              <a:buNone/>
            </a:pPr>
            <a:r>
              <a:rPr lang="en-US" sz="1300" dirty="0">
                <a:solidFill>
                  <a:srgbClr val="5B6B6E"/>
                </a:solidFill>
                <a:latin typeface="Calibri" pitchFamily="34" charset="0"/>
                <a:ea typeface="Calibri" pitchFamily="34" charset="-122"/>
                <a:cs typeface="Calibri" pitchFamily="34" charset="-120"/>
              </a:rPr>
              <a:t>If sale value or call cost changes, recompute the cut-off: 300 ÷ (sale value + 300).</a:t>
            </a:r>
            <a:endParaRPr lang="en-US" sz="1300" dirty="0"/>
          </a:p>
        </p:txBody>
      </p:sp>
      <p:sp>
        <p:nvSpPr>
          <p:cNvPr id="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E"/>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731520"/>
            <a:ext cx="7315200" cy="365760"/>
          </a:xfrm>
          <a:prstGeom prst="rect">
            <a:avLst/>
          </a:prstGeom>
          <a:noFill/>
          <a:ln/>
        </p:spPr>
        <p:txBody>
          <a:bodyPr wrap="square" lIns="0" tIns="0" rIns="0" bIns="0" rtlCol="0" anchor="t"/>
          <a:lstStyle/>
          <a:p>
            <a:pPr marL="0" indent="0">
              <a:buNone/>
            </a:pPr>
            <a:r>
              <a:rPr lang="en-US" sz="1600" dirty="0">
                <a:solidFill>
                  <a:srgbClr val="7FDFD8"/>
                </a:solidFill>
                <a:latin typeface="Calibri" pitchFamily="34" charset="0"/>
                <a:ea typeface="Calibri" pitchFamily="34" charset="-122"/>
                <a:cs typeface="Calibri" pitchFamily="34" charset="-120"/>
              </a:rPr>
              <a:t>Recommendation</a:t>
            </a:r>
            <a:endParaRPr lang="en-US" sz="1600" dirty="0"/>
          </a:p>
        </p:txBody>
      </p:sp>
      <p:sp>
        <p:nvSpPr>
          <p:cNvPr id="3" name="Text 1"/>
          <p:cNvSpPr txBox="1"/>
          <p:nvPr/>
        </p:nvSpPr>
        <p:spPr>
          <a:xfrm>
            <a:off x="457200" y="1280160"/>
            <a:ext cx="7498080" cy="1463040"/>
          </a:xfrm>
          <a:prstGeom prst="rect">
            <a:avLst/>
          </a:prstGeom>
          <a:noFill/>
          <a:ln/>
        </p:spPr>
        <p:txBody>
          <a:bodyPr wrap="square" lIns="0" tIns="0" rIns="0" bIns="0" rtlCol="0" anchor="t"/>
          <a:lstStyle/>
          <a:p>
            <a:pPr marL="0" indent="0">
              <a:buNone/>
            </a:pPr>
            <a:r>
              <a:rPr lang="en-US" sz="3600" b="1" dirty="0">
                <a:solidFill>
                  <a:srgbClr val="FFFFFF"/>
                </a:solidFill>
                <a:latin typeface="Calibri" pitchFamily="34" charset="0"/>
                <a:ea typeface="Calibri" pitchFamily="34" charset="-122"/>
                <a:cs typeface="Calibri" pitchFamily="34" charset="-120"/>
              </a:rPr>
              <a:t>Call customers scoring above 23%, pilot on a small slice, then scale</a:t>
            </a:r>
            <a:endParaRPr lang="en-US" sz="3600" dirty="0"/>
          </a:p>
        </p:txBody>
      </p:sp>
      <p:sp>
        <p:nvSpPr>
          <p:cNvPr id="4" name="Text 2"/>
          <p:cNvSpPr txBox="1"/>
          <p:nvPr/>
        </p:nvSpPr>
        <p:spPr>
          <a:xfrm>
            <a:off x="457200" y="3108960"/>
            <a:ext cx="7680960" cy="1371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BFD9D7"/>
                </a:solidFill>
                <a:latin typeface="Calibri" pitchFamily="34" charset="0"/>
                <a:ea typeface="Calibri" pitchFamily="34" charset="-122"/>
                <a:cs typeface="Calibri" pitchFamily="34" charset="-120"/>
              </a:rPr>
              <a:t>Use the pre-call model; keep call duration out</a:t>
            </a:r>
            <a:endParaRPr lang="en-US" sz="1600" dirty="0"/>
          </a:p>
          <a:p>
            <a:pPr marL="342900" indent="-342900">
              <a:spcAft>
                <a:spcPts val="600"/>
              </a:spcAft>
              <a:buSzPct val="100000"/>
              <a:buChar char="•"/>
            </a:pPr>
            <a:r>
              <a:rPr lang="en-US" sz="1600" dirty="0">
                <a:solidFill>
                  <a:srgbClr val="BFD9D7"/>
                </a:solidFill>
                <a:latin typeface="Calibri" pitchFamily="34" charset="0"/>
                <a:ea typeface="Calibri" pitchFamily="34" charset="-122"/>
                <a:cs typeface="Calibri" pitchFamily="34" charset="-120"/>
              </a:rPr>
              <a:t>Expect about 380k per 10,000 customers, with a range of roughly 330k to 430k</a:t>
            </a:r>
            <a:endParaRPr lang="en-US" sz="1600" dirty="0"/>
          </a:p>
          <a:p>
            <a:pPr marL="342900" indent="-342900">
              <a:spcAft>
                <a:spcPts val="600"/>
              </a:spcAft>
              <a:buSzPct val="100000"/>
              <a:buChar char="•"/>
            </a:pPr>
            <a:r>
              <a:rPr lang="en-US" sz="1600" dirty="0">
                <a:solidFill>
                  <a:srgbClr val="BFD9D7"/>
                </a:solidFill>
                <a:latin typeface="Calibri" pitchFamily="34" charset="0"/>
                <a:ea typeface="Calibri" pitchFamily="34" charset="-122"/>
                <a:cs typeface="Calibri" pitchFamily="34" charset="-120"/>
              </a:rPr>
              <a:t>Monitor the score distribution and revisit the cut-off if economics change</a:t>
            </a:r>
            <a:endParaRPr lang="en-US" sz="1600" dirty="0"/>
          </a:p>
        </p:txBody>
      </p:sp>
    </p:spTree>
  </p:cSld>
  <p:clrMapOvr>
    <a:masterClrMapping/>
  </p:clrMapOvr>
</p:sld>
</file>

<file path=ppt/theme/theme1.xml><?xml version="1.0" encoding="utf-8"?>
<a:theme xmlns:a="http://schemas.openxmlformats.org/drawingml/2006/main" name="GoTyme Case">
  <a:themeElements>
    <a:clrScheme name="GoTyme Case">
      <a:dk1>
        <a:srgbClr val="0B2E33"/>
      </a:dk1>
      <a:lt1>
        <a:srgbClr val="FFFFFF"/>
      </a:lt1>
      <a:dk2>
        <a:srgbClr val="5B6B6E"/>
      </a:dk2>
      <a:lt2>
        <a:srgbClr val="E8F7F6"/>
      </a:lt2>
      <a:accent1>
        <a:srgbClr val="00BFB3"/>
      </a:accent1>
      <a:accent2>
        <a:srgbClr val="0B2E33"/>
      </a:accent2>
      <a:accent3>
        <a:srgbClr val="E8604C"/>
      </a:accent3>
      <a:accent4>
        <a:srgbClr val="D5E3E2"/>
      </a:accent4>
      <a:accent5>
        <a:srgbClr val="5B6B6E"/>
      </a:accent5>
      <a:accent6>
        <a:srgbClr val="7FDFD8"/>
      </a:accent6>
      <a:hlink>
        <a:srgbClr val="00BFB3"/>
      </a:hlink>
      <a:folHlink>
        <a:srgbClr val="5B6B6E"/>
      </a:folHlink>
    </a:clrScheme>
    <a:fontScheme name="GoTyme Ca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TotalTime>
  <Words>1900</Words>
  <Application>Microsoft Office PowerPoint</Application>
  <PresentationFormat>On-screen Show (16:9)</PresentationFormat>
  <Paragraphs>244</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GoTyme Case</vt:lpstr>
      <vt:lpstr>PowerPoint Presentation</vt:lpstr>
      <vt:lpstr>An estimated net profit of about 380k per 10,000 prospects</vt:lpstr>
      <vt:lpstr>Three asks from the company</vt:lpstr>
      <vt:lpstr>The data is clean, but not every input is usable</vt:lpstr>
      <vt:lpstr>Call duration looks brilliant, but it cannot be used</vt:lpstr>
      <vt:lpstr>Rank inputs by IV, then drop near-duplicates</vt:lpstr>
      <vt:lpstr>Preparation choices, each with a reason</vt:lpstr>
      <vt:lpstr>Three tuned models tie, so the simplest one wins</vt:lpstr>
      <vt:lpstr>No overfitting, and the economy is the main driver</vt:lpstr>
      <vt:lpstr>Grouped cross-validation on combinations of macroeconomic values</vt:lpstr>
      <vt:lpstr>The cut-off comes from the economics, not from 0.5</vt:lpstr>
      <vt:lpstr>What the cut-off means in calls, sales and misses</vt:lpstr>
      <vt:lpstr>Expected profit is 379k; 745k is lost to misclassification</vt:lpstr>
      <vt:lpstr>The model captures a third of the possible profit</vt:lpstr>
      <vt:lpstr>How much precision and recall does profit need?</vt:lpstr>
      <vt:lpstr>Four risks to manage before launch</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GoTyme Case Study: Cold-Call Response Model</dc:title>
  <dc:subject>PptxGenJS Presentation</dc:subject>
  <dc:creator>Case study</dc:creator>
  <cp:lastModifiedBy>John Vernon Baldeo</cp:lastModifiedBy>
  <cp:revision>2</cp:revision>
  <dcterms:created xsi:type="dcterms:W3CDTF">2026-10-14T10:01:43Z</dcterms:created>
  <dcterms:modified xsi:type="dcterms:W3CDTF">2026-10-14T18:22:38Z</dcterms:modified>
</cp:coreProperties>
</file>